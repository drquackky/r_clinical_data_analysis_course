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93" r:id="rId2"/>
    <p:sldId id="256" r:id="rId3"/>
    <p:sldId id="260" r:id="rId4"/>
    <p:sldId id="261" r:id="rId5"/>
    <p:sldId id="258" r:id="rId6"/>
    <p:sldId id="262" r:id="rId7"/>
    <p:sldId id="283" r:id="rId8"/>
    <p:sldId id="284" r:id="rId9"/>
    <p:sldId id="285" r:id="rId10"/>
    <p:sldId id="287" r:id="rId11"/>
    <p:sldId id="288" r:id="rId12"/>
    <p:sldId id="289" r:id="rId13"/>
    <p:sldId id="290" r:id="rId14"/>
    <p:sldId id="291" r:id="rId15"/>
    <p:sldId id="295" r:id="rId16"/>
    <p:sldId id="294" r:id="rId17"/>
    <p:sldId id="296" r:id="rId18"/>
    <p:sldId id="312" r:id="rId19"/>
    <p:sldId id="270" r:id="rId20"/>
    <p:sldId id="297" r:id="rId21"/>
    <p:sldId id="301" r:id="rId22"/>
    <p:sldId id="299" r:id="rId23"/>
    <p:sldId id="300" r:id="rId24"/>
    <p:sldId id="313" r:id="rId25"/>
    <p:sldId id="327" r:id="rId26"/>
    <p:sldId id="264" r:id="rId27"/>
    <p:sldId id="303" r:id="rId28"/>
    <p:sldId id="268" r:id="rId29"/>
    <p:sldId id="305" r:id="rId30"/>
    <p:sldId id="306" r:id="rId31"/>
    <p:sldId id="307" r:id="rId32"/>
    <p:sldId id="328" r:id="rId33"/>
    <p:sldId id="310" r:id="rId34"/>
    <p:sldId id="309" r:id="rId35"/>
    <p:sldId id="315" r:id="rId36"/>
    <p:sldId id="311" r:id="rId37"/>
    <p:sldId id="317" r:id="rId38"/>
    <p:sldId id="320" r:id="rId39"/>
    <p:sldId id="318" r:id="rId40"/>
    <p:sldId id="319" r:id="rId41"/>
    <p:sldId id="321" r:id="rId42"/>
    <p:sldId id="322" r:id="rId43"/>
    <p:sldId id="323" r:id="rId44"/>
    <p:sldId id="269" r:id="rId45"/>
    <p:sldId id="324" r:id="rId46"/>
    <p:sldId id="325" r:id="rId47"/>
    <p:sldId id="326" r:id="rId48"/>
    <p:sldId id="271" r:id="rId49"/>
    <p:sldId id="329" r:id="rId50"/>
    <p:sldId id="281" r:id="rId51"/>
    <p:sldId id="282" r:id="rId52"/>
    <p:sldId id="330" r:id="rId53"/>
    <p:sldId id="331" r:id="rId54"/>
    <p:sldId id="333" r:id="rId55"/>
    <p:sldId id="332" r:id="rId56"/>
    <p:sldId id="334" r:id="rId57"/>
    <p:sldId id="335" r:id="rId58"/>
    <p:sldId id="336" r:id="rId59"/>
    <p:sldId id="292" r:id="rId60"/>
    <p:sldId id="273" r:id="rId6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E7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06" autoAdjust="0"/>
    <p:restoredTop sz="87451" autoAdjust="0"/>
  </p:normalViewPr>
  <p:slideViewPr>
    <p:cSldViewPr snapToGrid="0">
      <p:cViewPr varScale="1">
        <p:scale>
          <a:sx n="72" d="100"/>
          <a:sy n="72" d="100"/>
        </p:scale>
        <p:origin x="715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9622F-5D26-464A-906D-AAAC51C1BCD6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7E7C2-6DDF-4826-AA7F-7DA6628A6A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056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7E7C2-6DDF-4826-AA7F-7DA6628A6AC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8733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7E7C2-6DDF-4826-AA7F-7DA6628A6ACE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378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The idea behind </a:t>
            </a:r>
            <a:r>
              <a:rPr lang="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ggplot2</a:t>
            </a:r>
            <a:r>
              <a:rPr lang="" dirty="0"/>
              <a:t> is that we build a graph </a:t>
            </a:r>
            <a:r>
              <a:rPr lang="" b="1" dirty="0"/>
              <a:t>layer by layer</a:t>
            </a:r>
            <a:r>
              <a:rPr lang="" dirty="0"/>
              <a:t>. At the beginning, we need to tell ggplot2 three basic things:</a:t>
            </a:r>
          </a:p>
          <a:p>
            <a:pPr lvl="0"/>
            <a:r>
              <a:rPr lang="" b="1" dirty="0"/>
              <a:t>Data</a:t>
            </a:r>
            <a:r>
              <a:rPr lang="" dirty="0"/>
              <a:t>: What dataset are we using? </a:t>
            </a:r>
          </a:p>
          <a:p>
            <a:pPr lvl="0"/>
            <a:r>
              <a:rPr lang="" b="1" dirty="0"/>
              <a:t>Mapping</a:t>
            </a:r>
            <a:r>
              <a:rPr lang="" dirty="0"/>
              <a:t>: Which variables do we want to visualize, and how should they be mapped to the graph? </a:t>
            </a:r>
          </a:p>
          <a:p>
            <a:pPr lvl="0"/>
            <a:r>
              <a:rPr lang="" b="1" dirty="0"/>
              <a:t>Geom</a:t>
            </a:r>
            <a:r>
              <a:rPr lang="" dirty="0"/>
              <a:t>: What kind of visual representation do we want, such as points, bars, or lines?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7E7C2-6DDF-4826-AA7F-7DA6628A6ACE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0726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tells ggplot which observations belong together when drawing a line.   If you don't tell ggplot how to group them, it may treat the observations as one group and try to connect all the points.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7E7C2-6DDF-4826-AA7F-7DA6628A6ACE}" type="slidenum">
              <a:rPr lang="LID4096" smtClean="0"/>
              <a:t>57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7311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Use the age group to determine the inside fill color of each box.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7E7C2-6DDF-4826-AA7F-7DA6628A6ACE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404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8454-7A2F-A782-61B4-89BC49F2D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47BCB-99F0-30C2-5CA0-BF73A49BD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F2A23-6807-86D2-F889-9B94B4B8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C4877-DB50-4EB6-2644-A967DCAC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66C8-BD4F-0D0F-F2C2-D6F3017A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487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9781-2964-F8F8-7F87-0DEC065C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D336B-5BBB-FDBD-642F-18E1A2061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C11B5-61F3-9824-0358-8702CF45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13A37-E05E-AB9E-BC7A-858648CB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3CE86-56D3-ED71-549C-C64D1E68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219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C848-E839-A730-9334-8F00BAEA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7C55F-30A0-5252-C20C-0E1DBE1E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E99C-724F-90FD-11D0-B1BB9B94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200-4C5E-AB43-CCC3-EE647C9D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FDECD-6E30-2594-6D01-3A95BC50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6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0A53-0802-8B91-A8A6-BF8985B0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3AF5-7802-4A2B-D31C-048EA127D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A3980-BE79-D3B0-B454-5C4997F7B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06F20-0B47-A542-C052-99CE1EA4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199A8-FEFB-3E4B-6F05-328B4FB2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17772-530B-117D-7079-2AA4EE80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20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6E89-CE51-8099-ABC2-1900DFD8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BAA92-DC60-0025-4813-961789BC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AA58A-5D29-89BE-0932-7B32DC489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80F5EB-4F46-91B5-8804-0ADC3FECB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D1E6-1AF3-3388-AE0C-5E16B1DDB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743A3-0D7D-CF97-CF57-17A5A57A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3E982-DEDE-A5C3-461F-602D6968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1A332-D477-C52B-6342-8EEEDB04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414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A0B75-89DE-2A17-89B7-BF04ADCB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B5CD6-62BA-3648-DEE2-AB777D64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F2019-5E6F-80AB-94C8-20363EB4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FECDA-9CBF-8FFA-54E8-D6A50F32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570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4D648-19A8-8334-5E90-A49A72EB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6A7DE-894C-6CFE-FBFC-622A8065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8E20F-56B3-AA28-2924-BACADCF8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910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E2F0-4DF9-2054-2FEE-EB6C035C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C71C-4BB6-3DA0-0EBB-5341DF57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E2A1-798C-E0EC-6082-C39A185BE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CA604-B671-6380-1755-61AE79E7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83170-74BC-8065-C2C2-218B1D43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A22A-F6E2-68EC-9BC5-B9FE0A45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230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344D-B9C9-A8C3-88DB-5932EAE5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AAFA7-A4FA-8790-4F30-F8BC84768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19B50-D434-03D4-787A-86E7367A3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75A05-5FF2-28F8-720C-B7C73BB5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882CF-B605-D79F-1555-692E9569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A9CC7-F525-0783-AEA8-802F2F25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594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3F9B-B18B-A6EC-931F-1D8572AB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A1656-8499-73AF-CCE9-77D1B7DBF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44303-2216-972D-AB23-058AFAD9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B752E-4463-6F76-CD40-CBF6006B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EEFE-9815-C6AA-C618-FFFFD734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299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28ACD-F184-64CE-9B6B-0B98A26D9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664C9-7EB0-6521-6D5D-BCAABFD49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8E5B0-6668-E5AF-FFEB-2EE97F0E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E9D7B-9534-81D4-DB93-69103C14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64D67-0BED-9630-E7C8-F5C4366C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669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D4E2E-CE1E-DD8F-C2A0-CB27B926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7BA24-6C73-0EDA-F490-684316A1B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27495-697F-1DDF-2296-223ED9CBC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FFD8F-F5E1-4CBE-B2EE-E9E6A3E496C5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00532-4BDB-5FDE-ACF8-72D172105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84C0-2929-2CB5-8748-75F0F56D8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43988-3A5E-4DE1-886D-B4EB6C8116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509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8E8171-686A-2C30-D18D-C21996458B45}"/>
              </a:ext>
            </a:extLst>
          </p:cNvPr>
          <p:cNvSpPr txBox="1">
            <a:spLocks/>
          </p:cNvSpPr>
          <p:nvPr/>
        </p:nvSpPr>
        <p:spPr>
          <a:xfrm>
            <a:off x="2553927" y="4581013"/>
            <a:ext cx="7084143" cy="974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Gill Sans MT" panose="020B0502020104020203" pitchFamily="34" charset="0"/>
                <a:cs typeface="Hinsiew " panose="02000503000000000000" pitchFamily="50" charset="0"/>
              </a:rPr>
              <a:t>Give us your feedback to make this course better!</a:t>
            </a:r>
            <a:endParaRPr lang="LID4096" sz="3200" dirty="0">
              <a:latin typeface="Gill Sans MT" panose="020B0502020104020203" pitchFamily="34" charset="0"/>
              <a:cs typeface="Hinsiew " panose="02000503000000000000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299D1C-7BC1-17DD-6C60-35A2E9776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45" y="1612392"/>
            <a:ext cx="2654710" cy="265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94-F293-EFC0-B4D3-A089CA7D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122" y="1041400"/>
            <a:ext cx="9861755" cy="2387600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Gill Sans MT" panose="020B0502020104020203" pitchFamily="34" charset="0"/>
                <a:cs typeface="Hinsiew " panose="02000503000000000000" pitchFamily="50" charset="0"/>
              </a:rPr>
              <a:t>R Programming Language</a:t>
            </a:r>
            <a:endParaRPr lang="LID4096" sz="6600" dirty="0">
              <a:latin typeface="Gill Sans MT" panose="020B0502020104020203" pitchFamily="34" charset="0"/>
              <a:cs typeface="Hinsiew " panose="02000503000000000000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67752-91C2-00B1-400E-0BF76BC65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48115"/>
            <a:ext cx="9144000" cy="50784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Speak Pro" panose="020B0504020101020102" pitchFamily="34" charset="0"/>
              </a:rPr>
              <a:t>Introductory</a:t>
            </a:r>
            <a:r>
              <a:rPr lang="en-US" sz="3200" dirty="0">
                <a:latin typeface="Speak Pro" panose="020B0504020101020102" pitchFamily="34" charset="0"/>
              </a:rPr>
              <a:t> course for statistical data analysis</a:t>
            </a:r>
            <a:endParaRPr lang="LID4096" sz="3200" dirty="0">
              <a:latin typeface="Speak Pro" panose="020B0504020101020102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2F3AF0C-77A4-EF79-73B6-50E7A3524A66}"/>
              </a:ext>
            </a:extLst>
          </p:cNvPr>
          <p:cNvSpPr txBox="1">
            <a:spLocks/>
          </p:cNvSpPr>
          <p:nvPr/>
        </p:nvSpPr>
        <p:spPr>
          <a:xfrm>
            <a:off x="1524000" y="6044689"/>
            <a:ext cx="9144000" cy="507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ຈັດສອນໂດຍ: ອານາວິນ ສີມຸກດາ</a:t>
            </a:r>
            <a:endParaRPr lang="LID4096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8" name="Picture 7" descr="File:R logo.svg - Wikimedia Commons">
            <a:extLst>
              <a:ext uri="{FF2B5EF4-FFF2-40B4-BE49-F238E27FC236}">
                <a16:creationId xmlns:a16="http://schemas.microsoft.com/office/drawing/2014/main" id="{171392B5-5776-912A-31D9-1FC0A77E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248" y="5003288"/>
            <a:ext cx="1191501" cy="92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9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08EF-C97F-1721-6507-06971383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254A-852E-169C-23B1-163859B0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441"/>
            <a:ext cx="10515600" cy="1325563"/>
          </a:xfrm>
        </p:spPr>
        <p:txBody>
          <a:bodyPr>
            <a:normAutofit/>
          </a:bodyPr>
          <a:lstStyle/>
          <a:p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💢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ໃນການຂຽນໂປແກມທຸກໆພາສາ, ຈະມີ 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Core Building Block</a:t>
            </a:r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ຫຼັກໆ</a:t>
            </a:r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4000" dirty="0">
                <a:latin typeface="Speak Pro" panose="020B0504020101020102" pitchFamily="34" charset="0"/>
                <a:cs typeface="Hinsiew " panose="02000503000000000000" pitchFamily="50" charset="0"/>
              </a:rPr>
              <a:t>5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ຢ່າງ:</a:t>
            </a:r>
            <a:endParaRPr lang="LID4096" sz="4000" dirty="0">
              <a:latin typeface="Noto Sans Lao" panose="020B0502040504020204" pitchFamily="34" charset="0"/>
              <a:cs typeface="Noto Sans Lao" panose="020B0502040504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E56F9A-BA04-A9E0-42A0-E7D9E742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588" y="1833177"/>
            <a:ext cx="5024823" cy="502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5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91AA51-5803-3498-29B8-62F16888AF4E}"/>
              </a:ext>
            </a:extLst>
          </p:cNvPr>
          <p:cNvSpPr/>
          <p:nvPr/>
        </p:nvSpPr>
        <p:spPr>
          <a:xfrm>
            <a:off x="1184787" y="1751262"/>
            <a:ext cx="9473381" cy="5995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293B8-8B0A-7E81-1DDE-510E896B43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654" y="2455814"/>
            <a:ext cx="4403128" cy="4402186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00EE44F-7597-4B1C-4B51-979AF8887FEC}"/>
              </a:ext>
            </a:extLst>
          </p:cNvPr>
          <p:cNvCxnSpPr/>
          <p:nvPr/>
        </p:nvCxnSpPr>
        <p:spPr>
          <a:xfrm>
            <a:off x="4886632" y="5781368"/>
            <a:ext cx="1209368" cy="32446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1553EE0-298B-3619-D831-637CF160DE5A}"/>
              </a:ext>
            </a:extLst>
          </p:cNvPr>
          <p:cNvCxnSpPr/>
          <p:nvPr/>
        </p:nvCxnSpPr>
        <p:spPr>
          <a:xfrm rot="10800000" flipV="1">
            <a:off x="2526891" y="5358580"/>
            <a:ext cx="786581" cy="27530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0F9416CB-E217-5978-F557-0DC2426037C7}"/>
              </a:ext>
            </a:extLst>
          </p:cNvPr>
          <p:cNvCxnSpPr/>
          <p:nvPr/>
        </p:nvCxnSpPr>
        <p:spPr>
          <a:xfrm flipV="1">
            <a:off x="4817806" y="4473677"/>
            <a:ext cx="673510" cy="3736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EE643-B1D9-18BB-F8B6-4B601B0A01A1}"/>
              </a:ext>
            </a:extLst>
          </p:cNvPr>
          <p:cNvCxnSpPr/>
          <p:nvPr/>
        </p:nvCxnSpPr>
        <p:spPr>
          <a:xfrm rot="10800000">
            <a:off x="2330246" y="4267201"/>
            <a:ext cx="855407" cy="28513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1966850-D6E1-99A6-4DBA-3F5348BCDD81}"/>
              </a:ext>
            </a:extLst>
          </p:cNvPr>
          <p:cNvCxnSpPr/>
          <p:nvPr/>
        </p:nvCxnSpPr>
        <p:spPr>
          <a:xfrm>
            <a:off x="4817806" y="3544527"/>
            <a:ext cx="766917" cy="46211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31B65A39-E52A-2138-7AB3-CFB046C5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117"/>
            <a:ext cx="10515600" cy="1325563"/>
          </a:xfrm>
        </p:spPr>
        <p:txBody>
          <a:bodyPr/>
          <a:lstStyle/>
          <a:p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📁 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Variables / Objects</a:t>
            </a:r>
            <a:r>
              <a:rPr lang="lo-LA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</a:t>
            </a:r>
            <a:r>
              <a:rPr lang="lo-LA" dirty="0">
                <a:latin typeface="Noto Sans Lao" panose="020B0502040504020204" pitchFamily="34" charset="0"/>
                <a:cs typeface="Noto Sans Lao" panose="020B0502040504020204" pitchFamily="34" charset="0"/>
              </a:rPr>
              <a:t>ແມ່ນຫຍັງ</a:t>
            </a:r>
            <a:r>
              <a:rPr lang="th-TH" dirty="0">
                <a:latin typeface="Noto Sans Lao" panose="020B0502040504020204" pitchFamily="34" charset="0"/>
                <a:cs typeface="Hinsiew " panose="02000503000000000000" pitchFamily="50" charset="0"/>
              </a:rPr>
              <a:t> </a:t>
            </a:r>
            <a:endParaRPr lang="LID4096" dirty="0">
              <a:latin typeface="Noto Sans Lao" panose="020B0502040504020204" pitchFamily="34" charset="0"/>
              <a:cs typeface="Noto Sans Lao" panose="020B050204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8AB80C-6484-9338-EE51-8988D9C9874B}"/>
              </a:ext>
            </a:extLst>
          </p:cNvPr>
          <p:cNvSpPr txBox="1"/>
          <p:nvPr/>
        </p:nvSpPr>
        <p:spPr>
          <a:xfrm>
            <a:off x="1184787" y="1805211"/>
            <a:ext cx="9473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2400" dirty="0">
                <a:latin typeface="Hinsiew " panose="02000503000000000000" pitchFamily="50" charset="0"/>
                <a:cs typeface="Hinsiew " panose="02000503000000000000" pitchFamily="50" charset="0"/>
              </a:rPr>
              <a:t>🚩 </a:t>
            </a:r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ສິ່ງທີ່ ໃຊ້ເກັບຂໍ້ມູນ ຫຼື ຜົນລັບ ໄວ້ໃນໜ່ວຍຄວາມຈຳເພື່ອໃຫ້ເຮົາ  ສາມາດເອີ້ນມາໃຊ້ພາຍຫຼັງໄດ້</a:t>
            </a:r>
            <a:r>
              <a:rPr lang="lo-LA" sz="2400" dirty="0">
                <a:latin typeface="Hinsiew " panose="02000503000000000000" pitchFamily="50" charset="0"/>
                <a:cs typeface="Hinsiew " panose="02000503000000000000" pitchFamily="50" charset="0"/>
              </a:rPr>
              <a:t> 🚩 </a:t>
            </a:r>
            <a:endParaRPr lang="LID4096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B53CDE5-953D-5FB7-D214-F1E1FA590D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185" y="2666663"/>
            <a:ext cx="3464834" cy="3201075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B869FB9C-02EF-4070-99FD-4C1FDFE2BB99}"/>
              </a:ext>
            </a:extLst>
          </p:cNvPr>
          <p:cNvSpPr/>
          <p:nvPr/>
        </p:nvSpPr>
        <p:spPr>
          <a:xfrm>
            <a:off x="10101059" y="4060722"/>
            <a:ext cx="449450" cy="422788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14D7B7-739A-8FD3-DEA9-577E818AA264}"/>
              </a:ext>
            </a:extLst>
          </p:cNvPr>
          <p:cNvSpPr txBox="1"/>
          <p:nvPr/>
        </p:nvSpPr>
        <p:spPr>
          <a:xfrm>
            <a:off x="5584723" y="3683478"/>
            <a:ext cx="2241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Quire Sans Light" panose="020B0302040400020003" pitchFamily="34" charset="0"/>
              </a:rPr>
              <a:t>Plots from </a:t>
            </a:r>
            <a:r>
              <a:rPr lang="en-US" sz="1400" b="1" i="1" dirty="0">
                <a:highlight>
                  <a:srgbClr val="FFFF00"/>
                </a:highlight>
                <a:latin typeface="Quire Sans Light" panose="020B0302040400020003" pitchFamily="34" charset="0"/>
              </a:rPr>
              <a:t>ggplot2</a:t>
            </a:r>
            <a:r>
              <a:rPr lang="en-US" sz="1400" b="1" dirty="0">
                <a:latin typeface="Quire Sans Light" panose="020B0302040400020003" pitchFamily="34" charset="0"/>
              </a:rPr>
              <a:t> visualization code</a:t>
            </a:r>
            <a:endParaRPr lang="LID4096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E16727-2AD4-2AF6-9A64-A09ABF38FFE9}"/>
              </a:ext>
            </a:extLst>
          </p:cNvPr>
          <p:cNvSpPr txBox="1"/>
          <p:nvPr/>
        </p:nvSpPr>
        <p:spPr>
          <a:xfrm>
            <a:off x="1415846" y="4052809"/>
            <a:ext cx="1061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Quire Sans Light" panose="020B0302040400020003" pitchFamily="34" charset="0"/>
              </a:rPr>
              <a:t>Dataset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87C2F3-24C3-D3F1-C394-41F7C957B5E8}"/>
              </a:ext>
            </a:extLst>
          </p:cNvPr>
          <p:cNvSpPr txBox="1"/>
          <p:nvPr/>
        </p:nvSpPr>
        <p:spPr>
          <a:xfrm>
            <a:off x="1616545" y="5475068"/>
            <a:ext cx="1061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Quire Sans Light" panose="020B0302040400020003" pitchFamily="34" charset="0"/>
              </a:rPr>
              <a:t>Dataset 2</a:t>
            </a:r>
            <a:endParaRPr lang="LID4096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DA4E98-DE5D-E7A7-C78E-F83310CE6623}"/>
              </a:ext>
            </a:extLst>
          </p:cNvPr>
          <p:cNvSpPr txBox="1"/>
          <p:nvPr/>
        </p:nvSpPr>
        <p:spPr>
          <a:xfrm>
            <a:off x="5491316" y="4319788"/>
            <a:ext cx="2241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Quire Sans Light" panose="020B0302040400020003" pitchFamily="34" charset="0"/>
              </a:rPr>
              <a:t>Filtered / transformed data</a:t>
            </a:r>
            <a:endParaRPr lang="LID4096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B0A0AE-DC6E-5FD8-3293-725C28F3C96C}"/>
              </a:ext>
            </a:extLst>
          </p:cNvPr>
          <p:cNvSpPr txBox="1"/>
          <p:nvPr/>
        </p:nvSpPr>
        <p:spPr>
          <a:xfrm>
            <a:off x="6081253" y="5844222"/>
            <a:ext cx="27047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Quire Sans Light" panose="020B0302040400020003" pitchFamily="34" charset="0"/>
              </a:rPr>
              <a:t>List of object</a:t>
            </a:r>
          </a:p>
          <a:p>
            <a:r>
              <a:rPr lang="en-US" sz="1400" b="1" dirty="0">
                <a:latin typeface="Quire Sans Light" panose="020B0302040400020003" pitchFamily="34" charset="0"/>
              </a:rPr>
              <a:t>Ex. “Golden Retriever”, “Samoyed”, “Shiba”, “dachshund”</a:t>
            </a:r>
            <a:endParaRPr lang="LID4096" sz="1100" dirty="0"/>
          </a:p>
        </p:txBody>
      </p:sp>
    </p:spTree>
    <p:extLst>
      <p:ext uri="{BB962C8B-B14F-4D97-AF65-F5344CB8AC3E}">
        <p14:creationId xmlns:p14="http://schemas.microsoft.com/office/powerpoint/2010/main" val="219814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96BE-3504-D245-CCF1-3C88FA1A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518F-B734-F720-40E7-118B798C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🫣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ມາທຳຄວາມຮູ້ຈັກກັບ 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Data type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ແຕ່ລະຊະນິດໃນ </a:t>
            </a:r>
            <a:r>
              <a:rPr lang="en-US" sz="4000" dirty="0">
                <a:latin typeface="Speak Pro" panose="020B0504020101020102" pitchFamily="34" charset="0"/>
                <a:cs typeface="Hinsiew " panose="02000503000000000000" pitchFamily="50" charset="0"/>
              </a:rPr>
              <a:t>R</a:t>
            </a:r>
            <a:endParaRPr lang="LID4096" sz="4000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76816-8AEE-5777-5C29-20D396836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2"/>
            <a:ext cx="10515600" cy="46050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200" dirty="0">
              <a:latin typeface="Quire Sans Light" panose="020B0302040400020003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Gill Sans MT" panose="020B0502020104020203" pitchFamily="34" charset="0"/>
              </a:rPr>
              <a:t>Dplyr:</a:t>
            </a:r>
          </a:p>
          <a:p>
            <a:pPr marL="0" indent="0">
              <a:buNone/>
            </a:pPr>
            <a:r>
              <a:rPr lang="en-US" sz="2200" b="1" dirty="0">
                <a:latin typeface="Gill Sans MT" panose="020B0502020104020203" pitchFamily="34" charset="0"/>
              </a:rPr>
              <a:t>glimpse()</a:t>
            </a:r>
            <a:r>
              <a:rPr lang="en-US" sz="2200" dirty="0">
                <a:latin typeface="Quire Sans Light" panose="020B0302040400020003" pitchFamily="34" charset="0"/>
              </a:rPr>
              <a:t>	</a:t>
            </a:r>
            <a:r>
              <a:rPr lang="en-US" sz="2200" b="1" dirty="0">
                <a:latin typeface="Gill Sans MT" panose="020B0502020104020203" pitchFamily="34" charset="0"/>
              </a:rPr>
              <a:t>Meaning</a:t>
            </a:r>
            <a:r>
              <a:rPr lang="en-US" sz="2200" dirty="0">
                <a:latin typeface="Quire Sans Light" panose="020B0302040400020003" pitchFamily="34" charset="0"/>
              </a:rPr>
              <a:t>		</a:t>
            </a:r>
            <a:r>
              <a:rPr lang="en-US" sz="2200" b="1" dirty="0">
                <a:latin typeface="Gill Sans MT" panose="020B0502020104020203" pitchFamily="34" charset="0"/>
              </a:rPr>
              <a:t>Example</a:t>
            </a:r>
          </a:p>
          <a:p>
            <a:pPr marL="0" indent="0">
              <a:buNone/>
            </a:pPr>
            <a:endParaRPr lang="en-US" sz="2200" dirty="0">
              <a:latin typeface="Quire Sans Light" panose="020B03020404000200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&lt;chr&gt;		</a:t>
            </a:r>
            <a:r>
              <a:rPr lang="en-US" sz="2200" b="1" dirty="0">
                <a:latin typeface="Quire Sans Light" panose="020B0302040400020003" pitchFamily="34" charset="0"/>
              </a:rPr>
              <a:t>String</a:t>
            </a:r>
            <a:r>
              <a:rPr lang="en-US" sz="2200" dirty="0">
                <a:latin typeface="Quire Sans Light" panose="020B0302040400020003" pitchFamily="34" charset="0"/>
              </a:rPr>
              <a:t>			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“</a:t>
            </a:r>
            <a:r>
              <a:rPr lang="en-US" sz="2200" dirty="0">
                <a:latin typeface="Quire Sans Light" panose="020B0302040400020003" pitchFamily="34" charset="0"/>
              </a:rPr>
              <a:t>Anawin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”</a:t>
            </a:r>
            <a:r>
              <a:rPr lang="en-US" sz="2200" dirty="0">
                <a:latin typeface="Quire Sans Light" panose="020B0302040400020003" pitchFamily="34" charset="0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“</a:t>
            </a:r>
            <a:r>
              <a:rPr lang="en-US" sz="2200" dirty="0">
                <a:latin typeface="Quire Sans Light" panose="020B0302040400020003" pitchFamily="34" charset="0"/>
              </a:rPr>
              <a:t>E. coli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”</a:t>
            </a:r>
            <a:r>
              <a:rPr lang="en-US" sz="2200" dirty="0">
                <a:latin typeface="Quire Sans Light" panose="020B0302040400020003" pitchFamily="34" charset="0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“</a:t>
            </a:r>
            <a:r>
              <a:rPr lang="en-US" sz="2200" dirty="0">
                <a:latin typeface="Quire Sans Light" panose="020B0302040400020003" pitchFamily="34" charset="0"/>
              </a:rPr>
              <a:t>LOMWRU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”</a:t>
            </a:r>
            <a:r>
              <a:rPr lang="en-US" sz="2200" dirty="0">
                <a:latin typeface="Quire Sans Light" panose="020B0302040400020003" pitchFamily="34" charset="0"/>
              </a:rPr>
              <a:t>, 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</a:rPr>
              <a:t>“</a:t>
            </a:r>
            <a:r>
              <a:rPr lang="en-US" sz="2200" dirty="0">
                <a:latin typeface="Quire Sans Light" panose="020B0302040400020003" pitchFamily="34" charset="0"/>
              </a:rPr>
              <a:t>11 51 91 - </a:t>
            </a:r>
            <a:r>
              <a:rPr lang="lo-LA" sz="2200" dirty="0">
                <a:latin typeface="Hinsiew " panose="02000503000000000000" pitchFamily="50" charset="0"/>
                <a:cs typeface="Hinsiew " panose="02000503000000000000" pitchFamily="50" charset="0"/>
              </a:rPr>
              <a:t>ຫມາ</a:t>
            </a:r>
            <a:r>
              <a:rPr lang="en-US" sz="2200" dirty="0">
                <a:solidFill>
                  <a:srgbClr val="FF0000"/>
                </a:solidFill>
                <a:latin typeface="Quire Sans Light" panose="020B0302040400020003" pitchFamily="34" charset="0"/>
                <a:cs typeface="Hinsiew " panose="02000503000000000000" pitchFamily="50" charset="0"/>
              </a:rPr>
              <a:t>”</a:t>
            </a:r>
            <a:endParaRPr lang="en-US" sz="2200" dirty="0">
              <a:solidFill>
                <a:srgbClr val="FF0000"/>
              </a:solidFill>
              <a:latin typeface="Quire Sans Light" panose="020B03020404000200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&lt;dbl&gt; 		</a:t>
            </a:r>
            <a:r>
              <a:rPr lang="en-US" sz="2200" b="1" dirty="0">
                <a:latin typeface="Quire Sans Light" panose="020B0302040400020003" pitchFamily="34" charset="0"/>
              </a:rPr>
              <a:t>double/numeric	</a:t>
            </a:r>
            <a:r>
              <a:rPr lang="en-US" sz="2200" dirty="0">
                <a:latin typeface="Quire Sans Light" panose="020B0302040400020003" pitchFamily="34" charset="0"/>
              </a:rPr>
              <a:t>	25.4492, 10.54, 0.05, 1240, 39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&lt;int&gt;		</a:t>
            </a:r>
            <a:r>
              <a:rPr lang="en-US" sz="2200" b="1" dirty="0">
                <a:latin typeface="Quire Sans Light" panose="020B0302040400020003" pitchFamily="34" charset="0"/>
              </a:rPr>
              <a:t>integer</a:t>
            </a:r>
            <a:r>
              <a:rPr lang="en-US" sz="2200" dirty="0">
                <a:latin typeface="Quire Sans Light" panose="020B0302040400020003" pitchFamily="34" charset="0"/>
              </a:rPr>
              <a:t>			9, 20, 32, 48, 1980, 1998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&lt;date&gt; 		</a:t>
            </a:r>
            <a:r>
              <a:rPr lang="en-US" sz="2200" b="1" dirty="0">
                <a:latin typeface="Quire Sans Light" panose="020B0302040400020003" pitchFamily="34" charset="0"/>
              </a:rPr>
              <a:t>date</a:t>
            </a:r>
            <a:r>
              <a:rPr lang="en-US" sz="2200" dirty="0">
                <a:latin typeface="Quire Sans Light" panose="020B0302040400020003" pitchFamily="34" charset="0"/>
              </a:rPr>
              <a:t>			2026-08-25, 1998-04-15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&lt;fct&gt; 		</a:t>
            </a:r>
            <a:r>
              <a:rPr lang="en-US" sz="2200" b="1" dirty="0">
                <a:latin typeface="Quire Sans Light" panose="020B0302040400020003" pitchFamily="34" charset="0"/>
              </a:rPr>
              <a:t>factor</a:t>
            </a:r>
            <a:r>
              <a:rPr lang="en-US" sz="2200" dirty="0">
                <a:latin typeface="Quire Sans Light" panose="020B0302040400020003" pitchFamily="34" charset="0"/>
              </a:rPr>
              <a:t>			“Infant”, “Children”, “Adult”    |      “0”, “1”, “2”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&lt;lgl&gt; 		</a:t>
            </a:r>
            <a:r>
              <a:rPr lang="en-US" sz="2200" b="1" dirty="0">
                <a:latin typeface="Quire Sans Light" panose="020B0302040400020003" pitchFamily="34" charset="0"/>
              </a:rPr>
              <a:t>logical	</a:t>
            </a:r>
            <a:r>
              <a:rPr lang="en-US" sz="2200" dirty="0">
                <a:latin typeface="Quire Sans Light" panose="020B0302040400020003" pitchFamily="34" charset="0"/>
              </a:rPr>
              <a:t>		TRUE, FALSE</a:t>
            </a:r>
            <a:endParaRPr lang="LID4096" sz="2200" dirty="0">
              <a:latin typeface="Quire Sans Light" panose="020B03020404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1391-80B8-32E6-1DED-6E307754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BD8F-ACC3-9D19-EF92-BC9AAECD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sz="4000" dirty="0"/>
              <a:t>🧩</a:t>
            </a:r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ໂຄງສ້າງຂອງ 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Data / </a:t>
            </a:r>
            <a:r>
              <a:rPr lang="en-US" sz="4000" dirty="0">
                <a:latin typeface="Speak Pro" panose="020B0504020101020102" pitchFamily="34" charset="0"/>
                <a:cs typeface="Hinsiew " panose="02000503000000000000" pitchFamily="50" charset="0"/>
              </a:rPr>
              <a:t>Data Structure</a:t>
            </a:r>
            <a:endParaRPr lang="LID4096" sz="4000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D63A0-EA1E-DAFD-6912-89EFAFF0D337}"/>
              </a:ext>
            </a:extLst>
          </p:cNvPr>
          <p:cNvSpPr txBox="1"/>
          <p:nvPr/>
        </p:nvSpPr>
        <p:spPr>
          <a:xfrm>
            <a:off x="917545" y="1690688"/>
            <a:ext cx="103050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ໃນພາສາ </a:t>
            </a:r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R </a:t>
            </a:r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ຈະມີ </a:t>
            </a:r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data structure </a:t>
            </a:r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ຫຼາຍຊະນິດເຊັ່ນ</a:t>
            </a:r>
            <a:r>
              <a:rPr lang="lo-LA" sz="2000" dirty="0">
                <a:latin typeface="Speak Pro" panose="020B0504020101020102" pitchFamily="34" charset="0"/>
                <a:cs typeface="Hinsiew " panose="02000503000000000000" pitchFamily="50" charset="0"/>
              </a:rPr>
              <a:t>: </a:t>
            </a:r>
            <a:r>
              <a:rPr lang="en-US" sz="2000" b="1" dirty="0">
                <a:highlight>
                  <a:srgbClr val="FFFF00"/>
                </a:highlight>
                <a:latin typeface="Speak Pro" panose="020B0504020101020102" pitchFamily="34" charset="0"/>
                <a:cs typeface="Hinsiew " panose="02000503000000000000" pitchFamily="50" charset="0"/>
              </a:rPr>
              <a:t>vector</a:t>
            </a:r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, list, matrix, arrays, </a:t>
            </a:r>
            <a:r>
              <a:rPr lang="en-US" sz="2000" b="1" dirty="0">
                <a:highlight>
                  <a:srgbClr val="FFFF00"/>
                </a:highlight>
                <a:latin typeface="Speak Pro" panose="020B0504020101020102" pitchFamily="34" charset="0"/>
                <a:cs typeface="Hinsiew " panose="02000503000000000000" pitchFamily="50" charset="0"/>
              </a:rPr>
              <a:t>data frame</a:t>
            </a:r>
            <a:r>
              <a:rPr lang="lo-LA" sz="2000" dirty="0">
                <a:highlight>
                  <a:srgbClr val="FFFF00"/>
                </a:highlight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endParaRPr lang="LID4096" sz="1600" dirty="0">
              <a:highlight>
                <a:srgbClr val="FFFF00"/>
              </a:highlight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018EB7B-98DF-D421-EA59-A073BD9E1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3" y="2015613"/>
            <a:ext cx="10515600" cy="4605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Quire Sans Light" panose="020B0302040400020003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Quire Sans Light" panose="020B0302040400020003" pitchFamily="34" charset="0"/>
              </a:rPr>
              <a:t>			</a:t>
            </a:r>
            <a:r>
              <a:rPr lang="en-US" sz="2200" b="1" dirty="0">
                <a:latin typeface="Gill Sans MT" panose="020B0502020104020203" pitchFamily="34" charset="0"/>
              </a:rPr>
              <a:t>Vector</a:t>
            </a:r>
            <a:r>
              <a:rPr lang="en-US" sz="2200" dirty="0">
                <a:latin typeface="Quire Sans Light" panose="020B0302040400020003" pitchFamily="34" charset="0"/>
              </a:rPr>
              <a:t>			</a:t>
            </a:r>
            <a:r>
              <a:rPr lang="en-US" sz="2200" b="1" dirty="0">
                <a:latin typeface="Gill Sans MT" panose="020B0502020104020203" pitchFamily="34" charset="0"/>
              </a:rPr>
              <a:t>Data frame</a:t>
            </a:r>
            <a:endParaRPr lang="en-US" sz="2200" dirty="0">
              <a:latin typeface="Quire Sans Light" panose="020B03020404000200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Structure		1D			</a:t>
            </a:r>
            <a:r>
              <a:rPr lang="" sz="2400" dirty="0">
                <a:latin typeface="Quire Sans Light" panose="020B0302040400020003" pitchFamily="34" charset="0"/>
              </a:rPr>
              <a:t>2D (rows × columns)</a:t>
            </a:r>
            <a:endParaRPr lang="en-US" sz="2200" dirty="0">
              <a:latin typeface="Quire Sans Light" panose="020B03020404000200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Contains 		Values</a:t>
            </a:r>
            <a:r>
              <a:rPr lang="en-US" sz="2200" b="1" dirty="0">
                <a:latin typeface="Quire Sans Light" panose="020B0302040400020003" pitchFamily="34" charset="0"/>
              </a:rPr>
              <a:t>	</a:t>
            </a:r>
            <a:r>
              <a:rPr lang="en-US" sz="2200" dirty="0">
                <a:latin typeface="Quire Sans Light" panose="020B0302040400020003" pitchFamily="34" charset="0"/>
              </a:rPr>
              <a:t>		Column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Types		</a:t>
            </a:r>
            <a:r>
              <a:rPr lang="en-US" sz="2200" b="1" dirty="0">
                <a:latin typeface="Quire Sans Light" panose="020B0302040400020003" pitchFamily="34" charset="0"/>
              </a:rPr>
              <a:t>	</a:t>
            </a:r>
            <a:r>
              <a:rPr lang="en-US" sz="2200" dirty="0">
                <a:latin typeface="Quire Sans Light" panose="020B0302040400020003" pitchFamily="34" charset="0"/>
              </a:rPr>
              <a:t>Usually one type	Different types per column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Examples		</a:t>
            </a:r>
            <a:r>
              <a:rPr lang="en-US" sz="2200" dirty="0">
                <a:highlight>
                  <a:srgbClr val="C0C0C0"/>
                </a:highlight>
                <a:latin typeface="Quire Sans Light" panose="020B0302040400020003" pitchFamily="34" charset="0"/>
              </a:rPr>
              <a:t>c (1, 2, 3)</a:t>
            </a:r>
            <a:r>
              <a:rPr lang="en-US" sz="2200" dirty="0">
                <a:latin typeface="Quire Sans Light" panose="020B0302040400020003" pitchFamily="34" charset="0"/>
              </a:rPr>
              <a:t>		</a:t>
            </a:r>
            <a:r>
              <a:rPr lang="en-US" sz="2200" dirty="0">
                <a:highlight>
                  <a:srgbClr val="C0C0C0"/>
                </a:highlight>
                <a:latin typeface="Quire Sans Light" panose="020B0302040400020003" pitchFamily="34" charset="0"/>
              </a:rPr>
              <a:t>data.frame (x, 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Quire Sans Light" panose="020B0302040400020003" pitchFamily="34" charset="0"/>
              </a:rPr>
              <a:t>Think of it as		A list of value		A table (same as excel file)</a:t>
            </a:r>
          </a:p>
        </p:txBody>
      </p:sp>
    </p:spTree>
    <p:extLst>
      <p:ext uri="{BB962C8B-B14F-4D97-AF65-F5344CB8AC3E}">
        <p14:creationId xmlns:p14="http://schemas.microsoft.com/office/powerpoint/2010/main" val="275447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FB2780-2124-AD5E-EF4F-A99243D7F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2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What have we learnt so far week 1</a:t>
            </a:r>
            <a:endParaRPr lang="LID4096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E2EF0-995B-916F-F221-96494BFFF237}"/>
              </a:ext>
            </a:extLst>
          </p:cNvPr>
          <p:cNvSpPr txBox="1"/>
          <p:nvPr/>
        </p:nvSpPr>
        <p:spPr>
          <a:xfrm>
            <a:off x="838200" y="1907338"/>
            <a:ext cx="878664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Different data types: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string, numeric, factor</a:t>
            </a:r>
          </a:p>
          <a:p>
            <a:endParaRPr lang="en-US" sz="2200" b="1" dirty="0">
              <a:highlight>
                <a:srgbClr val="FFFF00"/>
              </a:highlight>
              <a:latin typeface="Quire Sans Light" panose="020B03020404000200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How to create vector with function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c ( )</a:t>
            </a:r>
          </a:p>
          <a:p>
            <a:pPr marL="342900" indent="-342900">
              <a:buFontTx/>
              <a:buChar char="-"/>
            </a:pPr>
            <a:endParaRPr lang="en-US" sz="2200" dirty="0">
              <a:latin typeface="Quire Sans Light" panose="020B03020404000200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How to import data with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read.csv( )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How to create data frame with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data.frame ( )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How to use dollar sign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$</a:t>
            </a:r>
            <a:r>
              <a:rPr lang="en-US" sz="2200" dirty="0">
                <a:highlight>
                  <a:srgbClr val="FFFF00"/>
                </a:highlight>
                <a:latin typeface="Quire Sans Light" panose="020B0302040400020003" pitchFamily="34" charset="0"/>
              </a:rPr>
              <a:t> </a:t>
            </a:r>
            <a:r>
              <a:rPr lang="en-US" sz="2200" dirty="0">
                <a:latin typeface="Quire Sans Light" panose="020B0302040400020003" pitchFamily="34" charset="0"/>
              </a:rPr>
              <a:t>to access column in object df</a:t>
            </a:r>
            <a:r>
              <a:rPr lang="en-US" sz="2200" b="1" dirty="0">
                <a:latin typeface="Quire Sans Light" panose="020B0302040400020003" pitchFamily="34" charset="0"/>
              </a:rPr>
              <a:t>$</a:t>
            </a:r>
            <a:r>
              <a:rPr lang="en-US" sz="2200" dirty="0">
                <a:latin typeface="Quire Sans Light" panose="020B0302040400020003" pitchFamily="34" charset="0"/>
              </a:rPr>
              <a:t>gender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latin typeface="Quire Sans Light" panose="020B0302040400020003" pitchFamily="34" charset="0"/>
              </a:rPr>
              <a:t>How to check structure of data with function </a:t>
            </a:r>
            <a:r>
              <a:rPr lang="en-US" sz="2200" b="1" dirty="0">
                <a:highlight>
                  <a:srgbClr val="FFFF00"/>
                </a:highlight>
                <a:latin typeface="Quire Sans Light" panose="020B0302040400020003" pitchFamily="34" charset="0"/>
              </a:rPr>
              <a:t>str ( )</a:t>
            </a:r>
          </a:p>
          <a:p>
            <a:pPr marL="285750" indent="-285750">
              <a:buFontTx/>
              <a:buChar char="-"/>
            </a:pP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E1CD2-D1D6-4EA4-DA05-7876CBB4E5E6}"/>
              </a:ext>
            </a:extLst>
          </p:cNvPr>
          <p:cNvSpPr txBox="1"/>
          <p:nvPr/>
        </p:nvSpPr>
        <p:spPr>
          <a:xfrm>
            <a:off x="838200" y="5058677"/>
            <a:ext cx="1028174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200" b="1" dirty="0">
                <a:latin typeface="Quire Sans Light" panose="020B0302040400020003" pitchFamily="34" charset="0"/>
              </a:rPr>
              <a:t>Assignment</a:t>
            </a:r>
            <a:r>
              <a:rPr lang="en-US" sz="2200" dirty="0">
                <a:latin typeface="Quire Sans Light" panose="020B0302040400020003" pitchFamily="34" charset="0"/>
              </a:rPr>
              <a:t>: create a R script, then create vector of 5 objects (should contain different data types)</a:t>
            </a:r>
          </a:p>
          <a:p>
            <a:pPr marL="800100" lvl="1" indent="-342900">
              <a:buFontTx/>
              <a:buChar char="-"/>
            </a:pPr>
            <a:r>
              <a:rPr lang="en-US" dirty="0">
                <a:latin typeface="Quire Sans Light" panose="020B0302040400020003" pitchFamily="34" charset="0"/>
              </a:rPr>
              <a:t>Then use data.frame () function of 5 objects and store it in </a:t>
            </a:r>
            <a:r>
              <a:rPr lang="en-US" b="1" dirty="0">
                <a:latin typeface="Quire Sans Light" panose="020B0302040400020003" pitchFamily="34" charset="0"/>
              </a:rPr>
              <a:t>df</a:t>
            </a:r>
            <a:r>
              <a:rPr lang="en-US" dirty="0">
                <a:latin typeface="Quire Sans Light" panose="020B0302040400020003" pitchFamily="34" charset="0"/>
              </a:rPr>
              <a:t> object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2688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953D3D-D20C-5CE4-6C3E-847D18EE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74" y="-2648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👌</a:t>
            </a:r>
            <a:r>
              <a:rPr lang="lo-LA" sz="32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ການສ້າງ 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directory/folder </a:t>
            </a:r>
            <a:r>
              <a:rPr lang="lo-LA" sz="32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ໃນການວິເຄາະຂໍ້ມູນ​</a:t>
            </a:r>
            <a:endParaRPr lang="LID4096" sz="3200" dirty="0">
              <a:latin typeface="Noto Sans Lao" panose="020B0502040504020204" pitchFamily="34" charset="0"/>
              <a:cs typeface="Noto Sans Lao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85E41-0F10-225C-0870-4EA03FAC5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1" y="1702732"/>
            <a:ext cx="2876928" cy="1887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D1C209-F11F-CCAB-61C5-D3716A76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99" y="1700192"/>
            <a:ext cx="2513825" cy="1888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28E80-959D-3F2A-A9CB-8C273A19E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020" y="1697651"/>
            <a:ext cx="3077424" cy="18812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DAFAF6-C6D2-06E1-1F90-4FFE1D86A3B5}"/>
              </a:ext>
            </a:extLst>
          </p:cNvPr>
          <p:cNvSpPr/>
          <p:nvPr/>
        </p:nvSpPr>
        <p:spPr>
          <a:xfrm>
            <a:off x="302874" y="1816734"/>
            <a:ext cx="379322" cy="18966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2C58C4-69B0-0C84-6F2A-0CDEAFBE8E05}"/>
              </a:ext>
            </a:extLst>
          </p:cNvPr>
          <p:cNvSpPr/>
          <p:nvPr/>
        </p:nvSpPr>
        <p:spPr>
          <a:xfrm>
            <a:off x="441100" y="2168853"/>
            <a:ext cx="817151" cy="16440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4000CE-8F48-84DE-E9CC-7A25AE27156D}"/>
              </a:ext>
            </a:extLst>
          </p:cNvPr>
          <p:cNvSpPr/>
          <p:nvPr/>
        </p:nvSpPr>
        <p:spPr>
          <a:xfrm>
            <a:off x="4289199" y="2086463"/>
            <a:ext cx="2223252" cy="3748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68C48-3863-3E44-D982-EDFF3FB97881}"/>
              </a:ext>
            </a:extLst>
          </p:cNvPr>
          <p:cNvSpPr/>
          <p:nvPr/>
        </p:nvSpPr>
        <p:spPr>
          <a:xfrm>
            <a:off x="8014313" y="2118701"/>
            <a:ext cx="1086581" cy="1812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12F35C-E87B-BB6D-F32B-04E4FAD5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01" y="4809268"/>
            <a:ext cx="2876928" cy="18455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EE86C5-B2E1-0398-A89D-459E394C2ECF}"/>
              </a:ext>
            </a:extLst>
          </p:cNvPr>
          <p:cNvSpPr txBox="1"/>
          <p:nvPr/>
        </p:nvSpPr>
        <p:spPr>
          <a:xfrm>
            <a:off x="441100" y="1125943"/>
            <a:ext cx="3155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1. File -&gt; New Project</a:t>
            </a:r>
            <a:endParaRPr lang="LID4096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17CEA-9C14-701F-8EA2-76BAD046086C}"/>
              </a:ext>
            </a:extLst>
          </p:cNvPr>
          <p:cNvSpPr txBox="1"/>
          <p:nvPr/>
        </p:nvSpPr>
        <p:spPr>
          <a:xfrm>
            <a:off x="4289199" y="1125943"/>
            <a:ext cx="3155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2. Create new directory</a:t>
            </a:r>
            <a:endParaRPr lang="LID4096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F7C94-18AF-3A7B-F366-A3AD924D9B93}"/>
              </a:ext>
            </a:extLst>
          </p:cNvPr>
          <p:cNvSpPr txBox="1"/>
          <p:nvPr/>
        </p:nvSpPr>
        <p:spPr>
          <a:xfrm>
            <a:off x="7802020" y="1119895"/>
            <a:ext cx="3155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3. Choose new project</a:t>
            </a:r>
            <a:endParaRPr lang="LID4096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E2498-07FD-16D9-7921-E237CBA6899C}"/>
              </a:ext>
            </a:extLst>
          </p:cNvPr>
          <p:cNvSpPr txBox="1"/>
          <p:nvPr/>
        </p:nvSpPr>
        <p:spPr>
          <a:xfrm>
            <a:off x="441100" y="4040673"/>
            <a:ext cx="3973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4. Browse to choose where to locate our directory and name them</a:t>
            </a:r>
            <a:endParaRPr lang="LID4096" sz="1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3FCD15-7799-3B7D-62DD-88C378CA9B53}"/>
              </a:ext>
            </a:extLst>
          </p:cNvPr>
          <p:cNvSpPr/>
          <p:nvPr/>
        </p:nvSpPr>
        <p:spPr>
          <a:xfrm>
            <a:off x="5139557" y="4040673"/>
            <a:ext cx="6108545" cy="24486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0D9D99-834E-8438-D8A7-332DA85CC7F3}"/>
              </a:ext>
            </a:extLst>
          </p:cNvPr>
          <p:cNvSpPr txBox="1"/>
          <p:nvPr/>
        </p:nvSpPr>
        <p:spPr>
          <a:xfrm>
            <a:off x="5230762" y="4209950"/>
            <a:ext cx="5726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✨ </a:t>
            </a:r>
            <a:r>
              <a:rPr lang="en-US" b="1" dirty="0" err="1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getwd</a:t>
            </a:r>
            <a:r>
              <a:rPr lang="en-US" b="1" dirty="0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( )</a:t>
            </a:r>
            <a:r>
              <a:rPr lang="en-US" sz="1200" b="1" dirty="0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 </a:t>
            </a:r>
            <a:r>
              <a:rPr lang="en-US" b="1" dirty="0">
                <a:latin typeface="Speak Pro" panose="020B0504020101020102" pitchFamily="34" charset="0"/>
              </a:rPr>
              <a:t>- function to locate where is our directory</a:t>
            </a:r>
            <a:endParaRPr lang="LID4096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5396533-C8F1-3908-9590-0810D6E1E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927" y="4702727"/>
            <a:ext cx="5112773" cy="161781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C6C2604-65BB-C58F-E132-3D29A6AACD79}"/>
              </a:ext>
            </a:extLst>
          </p:cNvPr>
          <p:cNvSpPr/>
          <p:nvPr/>
        </p:nvSpPr>
        <p:spPr>
          <a:xfrm>
            <a:off x="5457927" y="5151270"/>
            <a:ext cx="3341944" cy="48261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7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1FA5BC-28C8-FA2A-AD70-7BE1A0B30F5C}"/>
              </a:ext>
            </a:extLst>
          </p:cNvPr>
          <p:cNvSpPr/>
          <p:nvPr/>
        </p:nvSpPr>
        <p:spPr>
          <a:xfrm>
            <a:off x="683341" y="1781442"/>
            <a:ext cx="5176685" cy="8720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F06ECE-CA5A-3F23-D71E-A52DA4807674}"/>
              </a:ext>
            </a:extLst>
          </p:cNvPr>
          <p:cNvSpPr txBox="1">
            <a:spLocks/>
          </p:cNvSpPr>
          <p:nvPr/>
        </p:nvSpPr>
        <p:spPr>
          <a:xfrm>
            <a:off x="302874" y="101334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how to import CSV file in R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E428E-DEF2-0732-E0C0-B17F94329069}"/>
              </a:ext>
            </a:extLst>
          </p:cNvPr>
          <p:cNvSpPr txBox="1"/>
          <p:nvPr/>
        </p:nvSpPr>
        <p:spPr>
          <a:xfrm>
            <a:off x="683340" y="1925065"/>
            <a:ext cx="5176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✨ </a:t>
            </a:r>
            <a:r>
              <a:rPr lang="en-US" sz="1600" b="1" dirty="0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read.csv(file = “</a:t>
            </a:r>
            <a:r>
              <a:rPr lang="en-US" sz="1600" b="1" dirty="0" err="1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file_location</a:t>
            </a:r>
            <a:r>
              <a:rPr lang="en-US" sz="1600" b="1" dirty="0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”, </a:t>
            </a:r>
          </a:p>
          <a:p>
            <a:r>
              <a:rPr lang="en-US" sz="1600" b="1" dirty="0">
                <a:latin typeface="CommitMono" pitchFamily="50" charset="0"/>
                <a:ea typeface="CommitMono" pitchFamily="50" charset="0"/>
                <a:cs typeface="ADLaM Display" panose="020F0502020204030204" pitchFamily="2" charset="0"/>
              </a:rPr>
              <a:t>			header = TRUE )</a:t>
            </a:r>
            <a:endParaRPr lang="LID4096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DFD65-3A92-6425-FE08-71CB9EDC70C6}"/>
              </a:ext>
            </a:extLst>
          </p:cNvPr>
          <p:cNvSpPr txBox="1"/>
          <p:nvPr/>
        </p:nvSpPr>
        <p:spPr>
          <a:xfrm>
            <a:off x="683340" y="12001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Function to read comma separated value (CSV)</a:t>
            </a:r>
            <a:endParaRPr lang="LID4096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8EAA21-598B-D7F5-EB3A-6CA302F4A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0" y="3161973"/>
            <a:ext cx="8416413" cy="34983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CDA0993-E52E-078B-C74C-FBC5EB662078}"/>
              </a:ext>
            </a:extLst>
          </p:cNvPr>
          <p:cNvSpPr/>
          <p:nvPr/>
        </p:nvSpPr>
        <p:spPr>
          <a:xfrm>
            <a:off x="5262593" y="3429000"/>
            <a:ext cx="2681872" cy="3748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7E9939-DD27-B502-8E57-F5E3417FB3FC}"/>
              </a:ext>
            </a:extLst>
          </p:cNvPr>
          <p:cNvSpPr/>
          <p:nvPr/>
        </p:nvSpPr>
        <p:spPr>
          <a:xfrm>
            <a:off x="5262593" y="5396365"/>
            <a:ext cx="1516747" cy="26146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0AE6ED-3C82-26C6-B65C-C1304DA1A4E4}"/>
              </a:ext>
            </a:extLst>
          </p:cNvPr>
          <p:cNvSpPr/>
          <p:nvPr/>
        </p:nvSpPr>
        <p:spPr>
          <a:xfrm>
            <a:off x="842993" y="3354985"/>
            <a:ext cx="4318942" cy="44891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DBE0E-FFC7-36D6-CEA8-7E16CA0F5FE4}"/>
              </a:ext>
            </a:extLst>
          </p:cNvPr>
          <p:cNvSpPr txBox="1"/>
          <p:nvPr/>
        </p:nvSpPr>
        <p:spPr>
          <a:xfrm>
            <a:off x="7951410" y="3354985"/>
            <a:ext cx="380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masis MT Pro Black" panose="020F0502020204030204" pitchFamily="18" charset="0"/>
              </a:rPr>
              <a:t>1</a:t>
            </a:r>
            <a:endParaRPr lang="LID4096" sz="2400" dirty="0">
              <a:solidFill>
                <a:srgbClr val="FF000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304D16-4E34-8E62-911B-A2A1ECC25EE3}"/>
              </a:ext>
            </a:extLst>
          </p:cNvPr>
          <p:cNvSpPr txBox="1"/>
          <p:nvPr/>
        </p:nvSpPr>
        <p:spPr>
          <a:xfrm>
            <a:off x="6779340" y="5296263"/>
            <a:ext cx="380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masis MT Pro Black" panose="020F0502020204030204" pitchFamily="18" charset="0"/>
              </a:rPr>
              <a:t>2</a:t>
            </a:r>
            <a:endParaRPr lang="LID4096" sz="2400" dirty="0">
              <a:solidFill>
                <a:srgbClr val="FF000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FD6F9C-6EA8-7EEC-2F44-5FE9CE855DD4}"/>
              </a:ext>
            </a:extLst>
          </p:cNvPr>
          <p:cNvSpPr txBox="1"/>
          <p:nvPr/>
        </p:nvSpPr>
        <p:spPr>
          <a:xfrm>
            <a:off x="742335" y="3766075"/>
            <a:ext cx="380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masis MT Pro Black" panose="020F0502020204030204" pitchFamily="18" charset="0"/>
              </a:rPr>
              <a:t>3</a:t>
            </a:r>
            <a:endParaRPr lang="LID4096" sz="2400" dirty="0">
              <a:solidFill>
                <a:srgbClr val="FF000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87F308-5C6A-845E-04A1-DC51FA023133}"/>
              </a:ext>
            </a:extLst>
          </p:cNvPr>
          <p:cNvSpPr txBox="1"/>
          <p:nvPr/>
        </p:nvSpPr>
        <p:spPr>
          <a:xfrm>
            <a:off x="6603529" y="1315312"/>
            <a:ext cx="53585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Locate where is our directory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Checking our directory where is locate our csv file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Write the full path of file location in the read.csv function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Assign it to variable (df)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1862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3C99AE-A42F-E4EB-62C8-E0005D8C72F5}"/>
              </a:ext>
            </a:extLst>
          </p:cNvPr>
          <p:cNvSpPr txBox="1">
            <a:spLocks/>
          </p:cNvSpPr>
          <p:nvPr/>
        </p:nvSpPr>
        <p:spPr>
          <a:xfrm>
            <a:off x="302874" y="101334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🐶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function to get to know our data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46979-CE25-6058-EAE7-6D3099FA53CE}"/>
              </a:ext>
            </a:extLst>
          </p:cNvPr>
          <p:cNvSpPr/>
          <p:nvPr/>
        </p:nvSpPr>
        <p:spPr>
          <a:xfrm>
            <a:off x="683341" y="1781441"/>
            <a:ext cx="6302083" cy="4884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65C97-3CB0-2A20-8E82-BD5E2392051A}"/>
              </a:ext>
            </a:extLst>
          </p:cNvPr>
          <p:cNvSpPr txBox="1"/>
          <p:nvPr/>
        </p:nvSpPr>
        <p:spPr>
          <a:xfrm>
            <a:off x="683340" y="1925065"/>
            <a:ext cx="63020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View (df) </a:t>
            </a:r>
            <a:r>
              <a:rPr lang="en-US" sz="1600" b="1" dirty="0">
                <a:latin typeface="Speak Pro" panose="020B0504020101020102" pitchFamily="34" charset="0"/>
              </a:rPr>
              <a:t>– function to open new tap to overview our full data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nrow</a:t>
            </a:r>
            <a:r>
              <a:rPr lang="en-US" sz="1600" b="1" dirty="0"/>
              <a:t> (df) </a:t>
            </a:r>
            <a:r>
              <a:rPr lang="en-US" sz="1600" b="1" dirty="0">
                <a:latin typeface="Speak Pro" panose="020B0504020101020102" pitchFamily="34" charset="0"/>
              </a:rPr>
              <a:t>- function to count how many rows are there in the data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ncol</a:t>
            </a:r>
            <a:r>
              <a:rPr lang="en-US" sz="1600" b="1" dirty="0"/>
              <a:t>  (df) </a:t>
            </a:r>
            <a:r>
              <a:rPr lang="en-US" sz="1600" b="1" dirty="0">
                <a:latin typeface="Speak Pro" panose="020B0504020101020102" pitchFamily="34" charset="0"/>
              </a:rPr>
              <a:t>- function to count how many column are there in the data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str (df) </a:t>
            </a:r>
            <a:r>
              <a:rPr lang="en-US" sz="1600" b="1" dirty="0">
                <a:latin typeface="Speak Pro" panose="020B0504020101020102" pitchFamily="34" charset="0"/>
              </a:rPr>
              <a:t>- function to check the structure of our data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length (df) </a:t>
            </a:r>
            <a:r>
              <a:rPr lang="en-US" sz="1600" b="1" dirty="0">
                <a:latin typeface="Speak Pro" panose="020B0504020101020102" pitchFamily="34" charset="0"/>
              </a:rPr>
              <a:t>- number of elements in a vector/column in a data frame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is.na (df) </a:t>
            </a:r>
            <a:r>
              <a:rPr lang="en-US" sz="1600" b="1" dirty="0">
                <a:latin typeface="Speak Pro" panose="020B0504020101020102" pitchFamily="34" charset="0"/>
              </a:rPr>
              <a:t>– showing TRUE/FALSE of each value in df if it has Na value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sum(is.na (df)) </a:t>
            </a:r>
            <a:r>
              <a:rPr lang="en-US" sz="1600" b="1" dirty="0">
                <a:latin typeface="Speak Pro" panose="020B0504020101020102" pitchFamily="34" charset="0"/>
              </a:rPr>
              <a:t>– sum or count total Na value in the df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colSums</a:t>
            </a:r>
            <a:r>
              <a:rPr lang="en-US" sz="1600" b="1" dirty="0"/>
              <a:t>(is.na (df)) </a:t>
            </a:r>
            <a:r>
              <a:rPr lang="en-US" sz="1600" b="1" dirty="0">
                <a:latin typeface="Speak Pro" panose="020B0504020101020102" pitchFamily="34" charset="0"/>
              </a:rPr>
              <a:t>– showing how many Na value in each column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colNames</a:t>
            </a:r>
            <a:r>
              <a:rPr lang="en-US" sz="1600" b="1" dirty="0"/>
              <a:t> (df) </a:t>
            </a:r>
            <a:r>
              <a:rPr lang="en-US" sz="1600" b="1" dirty="0">
                <a:latin typeface="Speak Pro" panose="020B0504020101020102" pitchFamily="34" charset="0"/>
              </a:rPr>
              <a:t>– show the name of each column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LID4096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FE6B31-EC54-898E-A09C-60195AD0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075" y="998762"/>
            <a:ext cx="4904924" cy="19381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9A7715-49D6-02D6-1268-08C5EF3E850F}"/>
              </a:ext>
            </a:extLst>
          </p:cNvPr>
          <p:cNvSpPr txBox="1"/>
          <p:nvPr/>
        </p:nvSpPr>
        <p:spPr>
          <a:xfrm>
            <a:off x="683340" y="13061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Speak Pro" panose="020B0504020101020102" pitchFamily="34" charset="0"/>
              </a:rPr>
              <a:t>Suppose our data frame is stored in variable called </a:t>
            </a:r>
            <a:r>
              <a:rPr lang="en-US" b="1" i="1" dirty="0">
                <a:solidFill>
                  <a:srgbClr val="FF0000"/>
                </a:solidFill>
                <a:latin typeface="Speak Pro" panose="020B0504020101020102" pitchFamily="34" charset="0"/>
              </a:rPr>
              <a:t>df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1B55A-78C8-1224-4729-9EADC025E940}"/>
              </a:ext>
            </a:extLst>
          </p:cNvPr>
          <p:cNvSpPr txBox="1"/>
          <p:nvPr/>
        </p:nvSpPr>
        <p:spPr>
          <a:xfrm>
            <a:off x="0" y="1675472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0D85D3-AFC6-E155-2043-9B5E435D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75" y="3120071"/>
            <a:ext cx="4663095" cy="18142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E1896D-EA5E-2161-0254-F8BA3894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75" y="5389293"/>
            <a:ext cx="4663095" cy="93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4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A8F33C-1B26-4227-7C9E-6566B449205A}"/>
              </a:ext>
            </a:extLst>
          </p:cNvPr>
          <p:cNvSpPr txBox="1">
            <a:spLocks/>
          </p:cNvSpPr>
          <p:nvPr/>
        </p:nvSpPr>
        <p:spPr>
          <a:xfrm>
            <a:off x="302874" y="1047317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🙉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how to subset our data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01242-D468-EB38-12FA-8EF6ADE0E95D}"/>
              </a:ext>
            </a:extLst>
          </p:cNvPr>
          <p:cNvSpPr/>
          <p:nvPr/>
        </p:nvSpPr>
        <p:spPr>
          <a:xfrm>
            <a:off x="518873" y="3721389"/>
            <a:ext cx="6474721" cy="1281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27173-FCA0-35A9-BA9A-FE6BEE7C44A9}"/>
              </a:ext>
            </a:extLst>
          </p:cNvPr>
          <p:cNvSpPr txBox="1"/>
          <p:nvPr/>
        </p:nvSpPr>
        <p:spPr>
          <a:xfrm>
            <a:off x="588637" y="3811069"/>
            <a:ext cx="640875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unique ( ) </a:t>
            </a:r>
            <a:r>
              <a:rPr lang="en-US" sz="1600" b="1" dirty="0">
                <a:latin typeface="Speak Pro" panose="020B0504020101020102" pitchFamily="34" charset="0"/>
              </a:rPr>
              <a:t>– function to find a unique value in a vector (“Male”, “Female”)</a:t>
            </a:r>
          </a:p>
          <a:p>
            <a:r>
              <a:rPr lang="en-US" sz="1600" b="1" dirty="0">
                <a:latin typeface="Speak Pro" panose="020B0504020101020102" pitchFamily="34" charset="0"/>
              </a:rPr>
              <a:t>Ex. </a:t>
            </a:r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unique(</a:t>
            </a:r>
            <a:r>
              <a:rPr lang="en-US" sz="1600" b="1" dirty="0" err="1">
                <a:highlight>
                  <a:srgbClr val="FFFF00"/>
                </a:highlight>
                <a:latin typeface="Speak Pro" panose="020B0504020101020102" pitchFamily="34" charset="0"/>
              </a:rPr>
              <a:t>df$sex</a:t>
            </a:r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)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length (</a:t>
            </a:r>
            <a:r>
              <a:rPr lang="en-US" sz="1600" b="1" dirty="0" err="1"/>
              <a:t>df$sex</a:t>
            </a:r>
            <a:r>
              <a:rPr lang="en-US" sz="1600" b="1" dirty="0"/>
              <a:t>) ==  </a:t>
            </a:r>
            <a:r>
              <a:rPr lang="en-US" sz="1600" b="1" dirty="0" err="1"/>
              <a:t>nrow</a:t>
            </a:r>
            <a:r>
              <a:rPr lang="en-US" sz="1600" b="1" dirty="0"/>
              <a:t>(df) </a:t>
            </a:r>
            <a:r>
              <a:rPr lang="en-US" sz="1600" b="1" dirty="0">
                <a:latin typeface="Speak Pro" panose="020B0504020101020102" pitchFamily="34" charset="0"/>
              </a:rPr>
              <a:t> - function to count the total rows in df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LID4096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6C761-495B-A1A8-29AE-B97C7811B49E}"/>
              </a:ext>
            </a:extLst>
          </p:cNvPr>
          <p:cNvSpPr txBox="1"/>
          <p:nvPr/>
        </p:nvSpPr>
        <p:spPr>
          <a:xfrm>
            <a:off x="897594" y="21754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$ </a:t>
            </a:r>
            <a:r>
              <a:rPr lang="en-US" b="1" dirty="0">
                <a:solidFill>
                  <a:srgbClr val="FF0000"/>
                </a:solidFill>
                <a:latin typeface="Speak Pro" panose="020B0504020101020102" pitchFamily="34" charset="0"/>
              </a:rPr>
              <a:t>- dollar sign after variable will subset a column from the df and store it as vector</a:t>
            </a: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5F493-0D38-3DFB-29D2-082AF9082336}"/>
              </a:ext>
            </a:extLst>
          </p:cNvPr>
          <p:cNvSpPr txBox="1"/>
          <p:nvPr/>
        </p:nvSpPr>
        <p:spPr>
          <a:xfrm>
            <a:off x="288933" y="2091965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F0B00-8E0E-CFF0-5540-32DBA2992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83" y="1154352"/>
            <a:ext cx="4564984" cy="22746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E3451F-3DA3-BB91-DD91-7C0DD8E660C7}"/>
              </a:ext>
            </a:extLst>
          </p:cNvPr>
          <p:cNvSpPr txBox="1"/>
          <p:nvPr/>
        </p:nvSpPr>
        <p:spPr>
          <a:xfrm>
            <a:off x="897594" y="3190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It is powerful when we combine it with function</a:t>
            </a:r>
            <a:endParaRPr lang="LID4096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F5EAE2-239B-829E-1554-E3386F023F07}"/>
              </a:ext>
            </a:extLst>
          </p:cNvPr>
          <p:cNvSpPr txBox="1"/>
          <p:nvPr/>
        </p:nvSpPr>
        <p:spPr>
          <a:xfrm>
            <a:off x="136353" y="3429000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7D9C6A9-5CDC-4F0E-AB14-CD8C725E1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83" y="3833108"/>
            <a:ext cx="4686769" cy="73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71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A79F68-330B-D094-437E-DE554A0F2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35" y="1877143"/>
            <a:ext cx="8857002" cy="47604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13E3A4-B65D-7299-5B9B-62A87C79FFB9}"/>
              </a:ext>
            </a:extLst>
          </p:cNvPr>
          <p:cNvSpPr/>
          <p:nvPr/>
        </p:nvSpPr>
        <p:spPr>
          <a:xfrm>
            <a:off x="4707070" y="1886976"/>
            <a:ext cx="956310" cy="217374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BFD38-15E9-E459-45A7-6F6F9BE58138}"/>
              </a:ext>
            </a:extLst>
          </p:cNvPr>
          <p:cNvSpPr txBox="1"/>
          <p:nvPr/>
        </p:nvSpPr>
        <p:spPr>
          <a:xfrm>
            <a:off x="504735" y="7948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Speak Pro" panose="020B0504020101020102" pitchFamily="34" charset="0"/>
              </a:rPr>
              <a:t>Let’s say how do we do if we want to subset data to get the first </a:t>
            </a:r>
            <a:r>
              <a:rPr lang="en-US" b="1" i="1" dirty="0">
                <a:highlight>
                  <a:srgbClr val="FFFF00"/>
                </a:highlight>
                <a:latin typeface="Speak Pro" panose="020B0504020101020102" pitchFamily="34" charset="0"/>
              </a:rPr>
              <a:t>10 rows </a:t>
            </a:r>
            <a:r>
              <a:rPr lang="en-US" b="1" i="1" dirty="0">
                <a:latin typeface="Speak Pro" panose="020B0504020101020102" pitchFamily="34" charset="0"/>
              </a:rPr>
              <a:t>from the </a:t>
            </a:r>
            <a:r>
              <a:rPr lang="en-US" b="1" i="1" dirty="0">
                <a:highlight>
                  <a:srgbClr val="FF0000"/>
                </a:highlight>
                <a:latin typeface="Speak Pro" panose="020B0504020101020102" pitchFamily="34" charset="0"/>
              </a:rPr>
              <a:t>column occupation</a:t>
            </a:r>
            <a:r>
              <a:rPr lang="en-US" b="1" i="1" dirty="0">
                <a:latin typeface="Speak Pro" panose="020B0504020101020102" pitchFamily="34" charset="0"/>
              </a:rPr>
              <a:t>?</a:t>
            </a:r>
            <a:endParaRPr lang="LID4096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41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D598D3-62E6-E581-06D4-DA89AC6624BB}"/>
              </a:ext>
            </a:extLst>
          </p:cNvPr>
          <p:cNvSpPr/>
          <p:nvPr/>
        </p:nvSpPr>
        <p:spPr>
          <a:xfrm>
            <a:off x="3726426" y="526608"/>
            <a:ext cx="4739148" cy="9678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F1DAE-AFF0-9308-A7DD-485A8F3BA845}"/>
              </a:ext>
            </a:extLst>
          </p:cNvPr>
          <p:cNvSpPr txBox="1"/>
          <p:nvPr/>
        </p:nvSpPr>
        <p:spPr>
          <a:xfrm>
            <a:off x="4434348" y="784452"/>
            <a:ext cx="3323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df [ </a:t>
            </a:r>
            <a:r>
              <a:rPr lang="en-US" sz="2400" b="1" dirty="0">
                <a:solidFill>
                  <a:srgbClr val="FFFF00"/>
                </a:solidFill>
              </a:rPr>
              <a:t>rows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columns</a:t>
            </a:r>
            <a:r>
              <a:rPr lang="en-US" sz="2400" b="1" dirty="0"/>
              <a:t> ] </a:t>
            </a:r>
            <a:endParaRPr lang="LID4096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D3210-27CE-C2B9-40E6-FE59AAC8AED2}"/>
              </a:ext>
            </a:extLst>
          </p:cNvPr>
          <p:cNvSpPr txBox="1"/>
          <p:nvPr/>
        </p:nvSpPr>
        <p:spPr>
          <a:xfrm>
            <a:off x="3401961" y="234220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E848C-90A7-52E9-5AC6-4B4FB7714CFD}"/>
              </a:ext>
            </a:extLst>
          </p:cNvPr>
          <p:cNvSpPr txBox="1"/>
          <p:nvPr/>
        </p:nvSpPr>
        <p:spPr>
          <a:xfrm>
            <a:off x="806245" y="2013033"/>
            <a:ext cx="7393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dirty="0">
                <a:latin typeface="Speak Pro" panose="020B0504020101020102" pitchFamily="34" charset="0"/>
              </a:rPr>
              <a:t>To subset first row from 1st column	-	</a:t>
            </a:r>
            <a:r>
              <a:rPr lang="en-US" sz="1800" b="1" dirty="0"/>
              <a:t>df [ 1, 1 ]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To subset row 1-10 from 3rd column	-	</a:t>
            </a:r>
            <a:r>
              <a:rPr lang="en-US" b="1" dirty="0"/>
              <a:t>df [1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b="1" dirty="0"/>
              <a:t>10, 3]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To subset row 15-30 from column 2-5	-	</a:t>
            </a:r>
            <a:r>
              <a:rPr lang="en-US" b="1" dirty="0"/>
              <a:t>df [ 15:30, 2:5 ]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AD2FE-9E9E-5909-1EDE-8FE8411EB0C1}"/>
              </a:ext>
            </a:extLst>
          </p:cNvPr>
          <p:cNvSpPr txBox="1"/>
          <p:nvPr/>
        </p:nvSpPr>
        <p:spPr>
          <a:xfrm>
            <a:off x="806245" y="3164932"/>
            <a:ext cx="6764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4. What if we want to subset all rows but only from column 2, 4, 6?</a:t>
            </a:r>
          </a:p>
          <a:p>
            <a:r>
              <a:rPr lang="en-US" b="1" dirty="0"/>
              <a:t>df [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/>
              <a:t>, c(2,4,6)]  </a:t>
            </a:r>
            <a:r>
              <a:rPr lang="en-US" b="1" dirty="0">
                <a:latin typeface="Speak Pro" panose="020B0504020101020102" pitchFamily="34" charset="0"/>
              </a:rPr>
              <a:t>- </a:t>
            </a:r>
            <a:r>
              <a:rPr lang="en-US" b="1" i="1" dirty="0">
                <a:solidFill>
                  <a:srgbClr val="FF0000"/>
                </a:solidFill>
                <a:latin typeface="Speak Pro" panose="020B0504020101020102" pitchFamily="34" charset="0"/>
              </a:rPr>
              <a:t>space</a:t>
            </a:r>
            <a:r>
              <a:rPr lang="en-US" b="1" i="1" dirty="0">
                <a:latin typeface="Speak Pro" panose="020B0504020101020102" pitchFamily="34" charset="0"/>
              </a:rPr>
              <a:t> to select all items in the vector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67F90-E207-E098-56B1-6214DDD6C85C}"/>
              </a:ext>
            </a:extLst>
          </p:cNvPr>
          <p:cNvSpPr txBox="1"/>
          <p:nvPr/>
        </p:nvSpPr>
        <p:spPr>
          <a:xfrm>
            <a:off x="806245" y="4039832"/>
            <a:ext cx="6499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5. What if we want to subset all column but only from rows 1-20?</a:t>
            </a:r>
          </a:p>
          <a:p>
            <a:r>
              <a:rPr lang="en-US" b="1" dirty="0"/>
              <a:t>df [1:20,</a:t>
            </a:r>
            <a:r>
              <a:rPr lang="en-US" b="1" dirty="0">
                <a:highlight>
                  <a:srgbClr val="FF0000"/>
                </a:highlight>
              </a:rPr>
              <a:t> </a:t>
            </a:r>
            <a:r>
              <a:rPr lang="en-US" b="1" dirty="0"/>
              <a:t>]</a:t>
            </a:r>
            <a:endParaRPr lang="en-US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8755A-B27A-708E-102D-EF291D5BE76C}"/>
              </a:ext>
            </a:extLst>
          </p:cNvPr>
          <p:cNvSpPr txBox="1"/>
          <p:nvPr/>
        </p:nvSpPr>
        <p:spPr>
          <a:xfrm>
            <a:off x="806245" y="4914732"/>
            <a:ext cx="10510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6. What if we know the name of the column (</a:t>
            </a:r>
            <a:r>
              <a:rPr lang="en-US" b="1" dirty="0" err="1">
                <a:latin typeface="Speak Pro" panose="020B0504020101020102" pitchFamily="34" charset="0"/>
              </a:rPr>
              <a:t>case_id</a:t>
            </a:r>
            <a:r>
              <a:rPr lang="en-US" b="1" dirty="0">
                <a:latin typeface="Speak Pro" panose="020B0504020101020102" pitchFamily="34" charset="0"/>
              </a:rPr>
              <a:t>, sex, occupation, province) and we want all rows from those column?</a:t>
            </a:r>
          </a:p>
          <a:p>
            <a:r>
              <a:rPr lang="en-US" b="1" dirty="0"/>
              <a:t>df[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dirty="0"/>
              <a:t>, c("</a:t>
            </a:r>
            <a:r>
              <a:rPr lang="en-US" b="1" dirty="0" err="1"/>
              <a:t>case_id</a:t>
            </a:r>
            <a:r>
              <a:rPr lang="en-US" b="1" dirty="0"/>
              <a:t>", "sex", "occupation", "province")]</a:t>
            </a:r>
            <a:endParaRPr lang="en-US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A914F-9A51-6E3E-F5A5-C26D74DA4F95}"/>
              </a:ext>
            </a:extLst>
          </p:cNvPr>
          <p:cNvSpPr/>
          <p:nvPr/>
        </p:nvSpPr>
        <p:spPr>
          <a:xfrm>
            <a:off x="8268929" y="3677265"/>
            <a:ext cx="3200400" cy="846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57C2F-9B69-7335-64D1-8D3CDAEB86CE}"/>
              </a:ext>
            </a:extLst>
          </p:cNvPr>
          <p:cNvSpPr txBox="1"/>
          <p:nvPr/>
        </p:nvSpPr>
        <p:spPr>
          <a:xfrm>
            <a:off x="8207477" y="3778222"/>
            <a:ext cx="3323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 ( ) – </a:t>
            </a:r>
            <a:r>
              <a:rPr lang="en-US" sz="1400" b="1" dirty="0">
                <a:latin typeface="Speak Pro" panose="020B0504020101020102" pitchFamily="34" charset="0"/>
              </a:rPr>
              <a:t>function to combine multiple values or objects into a single vector or list.</a:t>
            </a:r>
            <a:r>
              <a:rPr lang="en-US" sz="1400" b="1" dirty="0"/>
              <a:t> </a:t>
            </a:r>
            <a:endParaRPr lang="LID4096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F1A5B-A668-FC9D-20A9-A5F99FEE184F}"/>
              </a:ext>
            </a:extLst>
          </p:cNvPr>
          <p:cNvSpPr txBox="1"/>
          <p:nvPr/>
        </p:nvSpPr>
        <p:spPr>
          <a:xfrm>
            <a:off x="7996083" y="3527689"/>
            <a:ext cx="545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✨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93475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8C9CEB-2ECD-0290-C2DA-6B5756BC8C06}"/>
              </a:ext>
            </a:extLst>
          </p:cNvPr>
          <p:cNvSpPr/>
          <p:nvPr/>
        </p:nvSpPr>
        <p:spPr>
          <a:xfrm>
            <a:off x="6779342" y="328181"/>
            <a:ext cx="5102942" cy="259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BD133C-2876-FCE1-1960-4505B0D577E9}"/>
              </a:ext>
            </a:extLst>
          </p:cNvPr>
          <p:cNvSpPr txBox="1">
            <a:spLocks/>
          </p:cNvSpPr>
          <p:nvPr/>
        </p:nvSpPr>
        <p:spPr>
          <a:xfrm>
            <a:off x="302874" y="209489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🐱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from subset to filter data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r>
              <a:rPr lang="en-US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94C8A-1000-C8B7-21F7-4EA4FC211E88}"/>
              </a:ext>
            </a:extLst>
          </p:cNvPr>
          <p:cNvSpPr txBox="1"/>
          <p:nvPr/>
        </p:nvSpPr>
        <p:spPr>
          <a:xfrm>
            <a:off x="683342" y="1308326"/>
            <a:ext cx="583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dirty="0">
                <a:latin typeface="Speak Pro" panose="020B0504020101020102" pitchFamily="34" charset="0"/>
              </a:rPr>
              <a:t>We use dollar sign </a:t>
            </a:r>
            <a:r>
              <a:rPr lang="en-US" sz="1800" b="1" dirty="0">
                <a:highlight>
                  <a:srgbClr val="FFFF00"/>
                </a:highlight>
                <a:latin typeface="Speak Pro" panose="020B0504020101020102" pitchFamily="34" charset="0"/>
              </a:rPr>
              <a:t>$</a:t>
            </a:r>
            <a:r>
              <a:rPr lang="en-US" sz="1800" b="1" dirty="0">
                <a:latin typeface="Speak Pro" panose="020B0504020101020102" pitchFamily="34" charset="0"/>
              </a:rPr>
              <a:t> to select vector in column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We use square bracket </a:t>
            </a:r>
            <a:r>
              <a:rPr lang="en-US" b="1" dirty="0">
                <a:highlight>
                  <a:srgbClr val="FFFF00"/>
                </a:highlight>
                <a:latin typeface="Speak Pro" panose="020B0504020101020102" pitchFamily="34" charset="0"/>
              </a:rPr>
              <a:t>[ ]</a:t>
            </a:r>
            <a:r>
              <a:rPr lang="en-US" b="1" dirty="0">
                <a:latin typeface="Speak Pro" panose="020B0504020101020102" pitchFamily="34" charset="0"/>
              </a:rPr>
              <a:t> to subset data</a:t>
            </a:r>
          </a:p>
          <a:p>
            <a:pPr marL="342900" indent="-342900">
              <a:buAutoNum type="arabicPeriod"/>
            </a:pPr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Now its time to combine those two together !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06F77-1C93-27A9-1D18-218ACCB11DE8}"/>
              </a:ext>
            </a:extLst>
          </p:cNvPr>
          <p:cNvSpPr txBox="1"/>
          <p:nvPr/>
        </p:nvSpPr>
        <p:spPr>
          <a:xfrm>
            <a:off x="683342" y="3035262"/>
            <a:ext cx="793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latin typeface="Speak Pro" panose="020B0504020101020102" pitchFamily="34" charset="0"/>
              </a:rPr>
              <a:t>Suppose we want to subset data from all column, but only the row in column sex equal to female, how do we do?</a:t>
            </a:r>
            <a:endParaRPr lang="LID4096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20516A-BA89-D5D8-CADE-51EE856BD18B}"/>
              </a:ext>
            </a:extLst>
          </p:cNvPr>
          <p:cNvSpPr txBox="1"/>
          <p:nvPr/>
        </p:nvSpPr>
        <p:spPr>
          <a:xfrm>
            <a:off x="683342" y="3838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df [</a:t>
            </a:r>
            <a:r>
              <a:rPr lang="en-US" sz="1800" b="1" dirty="0">
                <a:highlight>
                  <a:srgbClr val="FFFF00"/>
                </a:highlight>
              </a:rPr>
              <a:t>df $ sex == </a:t>
            </a:r>
            <a:r>
              <a:rPr lang="en-US" b="1" dirty="0">
                <a:highlight>
                  <a:srgbClr val="FFFF00"/>
                </a:highlight>
              </a:rPr>
              <a:t>‘’Female”</a:t>
            </a:r>
            <a:r>
              <a:rPr lang="en-US" b="1" dirty="0"/>
              <a:t>,</a:t>
            </a:r>
            <a:r>
              <a:rPr lang="en-US" b="1" dirty="0">
                <a:highlight>
                  <a:srgbClr val="FF0000"/>
                </a:highlight>
              </a:rPr>
              <a:t>  </a:t>
            </a:r>
            <a:r>
              <a:rPr lang="en-US" sz="1800" b="1" dirty="0"/>
              <a:t>]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D8963-69F6-8B28-FE04-BB1F00059F74}"/>
              </a:ext>
            </a:extLst>
          </p:cNvPr>
          <p:cNvSpPr txBox="1"/>
          <p:nvPr/>
        </p:nvSpPr>
        <p:spPr>
          <a:xfrm>
            <a:off x="6985819" y="389575"/>
            <a:ext cx="3515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Mathematical operation in R</a:t>
            </a:r>
            <a:endParaRPr lang="LID4096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4A1B39-41D5-4537-318D-39ABC584D143}"/>
              </a:ext>
            </a:extLst>
          </p:cNvPr>
          <p:cNvSpPr txBox="1"/>
          <p:nvPr/>
        </p:nvSpPr>
        <p:spPr>
          <a:xfrm>
            <a:off x="6449961" y="60341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18E07-8B91-0AEE-BD58-78841D324D7A}"/>
              </a:ext>
            </a:extLst>
          </p:cNvPr>
          <p:cNvSpPr txBox="1"/>
          <p:nvPr/>
        </p:nvSpPr>
        <p:spPr>
          <a:xfrm>
            <a:off x="6985819" y="805073"/>
            <a:ext cx="35150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== 	equal</a:t>
            </a:r>
          </a:p>
          <a:p>
            <a:r>
              <a:rPr lang="en-US" b="1" dirty="0">
                <a:latin typeface="Speak Pro" panose="020B0504020101020102" pitchFamily="34" charset="0"/>
              </a:rPr>
              <a:t>!= 	not equal</a:t>
            </a:r>
          </a:p>
          <a:p>
            <a:r>
              <a:rPr lang="en-US" b="1" dirty="0">
                <a:latin typeface="Speak Pro" panose="020B0504020101020102" pitchFamily="34" charset="0"/>
              </a:rPr>
              <a:t>&lt;, &lt;=	smaller, smaller or equal</a:t>
            </a:r>
          </a:p>
          <a:p>
            <a:r>
              <a:rPr lang="en-US" b="1" dirty="0">
                <a:latin typeface="Speak Pro" panose="020B0504020101020102" pitchFamily="34" charset="0"/>
              </a:rPr>
              <a:t>&gt;, &gt;=	bigger, bigger or equal</a:t>
            </a:r>
          </a:p>
          <a:p>
            <a:r>
              <a:rPr lang="en-US" b="1" dirty="0">
                <a:latin typeface="Speak Pro" panose="020B0504020101020102" pitchFamily="34" charset="0"/>
              </a:rPr>
              <a:t>+, -, *, /</a:t>
            </a:r>
          </a:p>
          <a:p>
            <a:r>
              <a:rPr lang="en-US" b="1" dirty="0">
                <a:latin typeface="Speak Pro" panose="020B0504020101020102" pitchFamily="34" charset="0"/>
              </a:rPr>
              <a:t>&amp;	and</a:t>
            </a:r>
          </a:p>
          <a:p>
            <a:r>
              <a:rPr lang="en-US" b="1" dirty="0">
                <a:latin typeface="Speak Pro" panose="020B0504020101020102" pitchFamily="34" charset="0"/>
              </a:rPr>
              <a:t>|	or</a:t>
            </a:r>
          </a:p>
          <a:p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8829D-DF16-6851-2EC6-24A21F476C00}"/>
              </a:ext>
            </a:extLst>
          </p:cNvPr>
          <p:cNvSpPr txBox="1"/>
          <p:nvPr/>
        </p:nvSpPr>
        <p:spPr>
          <a:xfrm>
            <a:off x="683341" y="4471001"/>
            <a:ext cx="1119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latin typeface="Speak Pro" panose="020B0504020101020102" pitchFamily="34" charset="0"/>
              </a:rPr>
              <a:t>Now we want all column but all rows in occupation column who is “Teacher” and in sex column who is female?</a:t>
            </a:r>
            <a:endParaRPr lang="LID4096" b="1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3023F-7399-137F-601F-12316FC8F523}"/>
              </a:ext>
            </a:extLst>
          </p:cNvPr>
          <p:cNvSpPr txBox="1"/>
          <p:nvPr/>
        </p:nvSpPr>
        <p:spPr>
          <a:xfrm>
            <a:off x="683342" y="4959650"/>
            <a:ext cx="6789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df [</a:t>
            </a:r>
            <a:r>
              <a:rPr lang="en-US" sz="1800" b="1" dirty="0">
                <a:highlight>
                  <a:srgbClr val="FFFF00"/>
                </a:highlight>
              </a:rPr>
              <a:t>df $ occupation == ‘’Teacher” &amp; df $ sex == “Female”</a:t>
            </a:r>
            <a:r>
              <a:rPr lang="en-US" sz="1800" b="1" dirty="0"/>
              <a:t>,</a:t>
            </a:r>
            <a:r>
              <a:rPr lang="en-US" sz="1800" b="1" dirty="0">
                <a:highlight>
                  <a:srgbClr val="FF0000"/>
                </a:highlight>
              </a:rPr>
              <a:t>  </a:t>
            </a:r>
            <a:r>
              <a:rPr lang="en-US" sz="1800" b="1" dirty="0"/>
              <a:t>] 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5238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D4CE46-FC02-F742-2966-19C987F5F9D4}"/>
              </a:ext>
            </a:extLst>
          </p:cNvPr>
          <p:cNvSpPr txBox="1">
            <a:spLocks/>
          </p:cNvSpPr>
          <p:nvPr/>
        </p:nvSpPr>
        <p:spPr>
          <a:xfrm>
            <a:off x="302874" y="186283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Assignment week 2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04EF6-1784-A09A-D46A-21833D005D99}"/>
              </a:ext>
            </a:extLst>
          </p:cNvPr>
          <p:cNvSpPr txBox="1"/>
          <p:nvPr/>
        </p:nvSpPr>
        <p:spPr>
          <a:xfrm>
            <a:off x="683342" y="1471933"/>
            <a:ext cx="9847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From a dengue dataset, we want to subset data to get all column when sex is “Female” and province from “Savannakhet”</a:t>
            </a:r>
          </a:p>
          <a:p>
            <a:pPr lvl="1"/>
            <a:r>
              <a:rPr lang="en-US" b="1" dirty="0">
                <a:latin typeface="Speak Pro" panose="020B0504020101020102" pitchFamily="34" charset="0"/>
              </a:rPr>
              <a:t>-   How many observations are they ?</a:t>
            </a:r>
            <a:endParaRPr lang="LID4096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62DA0-D7F1-EA57-981D-C02A1AA6B192}"/>
              </a:ext>
            </a:extLst>
          </p:cNvPr>
          <p:cNvSpPr txBox="1"/>
          <p:nvPr/>
        </p:nvSpPr>
        <p:spPr>
          <a:xfrm>
            <a:off x="637171" y="2843533"/>
            <a:ext cx="984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2.  What are the unique value in column “province”?</a:t>
            </a:r>
            <a:endParaRPr lang="LID4096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D3CF5-BD17-090B-30F1-98EECFE9AFA9}"/>
              </a:ext>
            </a:extLst>
          </p:cNvPr>
          <p:cNvSpPr txBox="1"/>
          <p:nvPr/>
        </p:nvSpPr>
        <p:spPr>
          <a:xfrm>
            <a:off x="637171" y="3953676"/>
            <a:ext cx="9847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3.  From dengue dataset, I want to get row 2, 6, 8 ,22 from 4 columns (</a:t>
            </a:r>
            <a:r>
              <a:rPr lang="en-US" b="1" dirty="0" err="1">
                <a:latin typeface="Speak Pro" panose="020B0504020101020102" pitchFamily="34" charset="0"/>
              </a:rPr>
              <a:t>case_id</a:t>
            </a:r>
            <a:r>
              <a:rPr lang="en-US" b="1" dirty="0">
                <a:latin typeface="Speak Pro" panose="020B0504020101020102" pitchFamily="34" charset="0"/>
              </a:rPr>
              <a:t>, </a:t>
            </a:r>
            <a:r>
              <a:rPr lang="en-US" b="1" dirty="0" err="1">
                <a:latin typeface="Speak Pro" panose="020B0504020101020102" pitchFamily="34" charset="0"/>
              </a:rPr>
              <a:t>previous_dengue</a:t>
            </a:r>
            <a:r>
              <a:rPr lang="en-US" b="1" dirty="0">
                <a:latin typeface="Speak Pro" panose="020B0504020101020102" pitchFamily="34" charset="0"/>
              </a:rPr>
              <a:t>, pregnant, </a:t>
            </a:r>
            <a:r>
              <a:rPr lang="en-US" b="1" dirty="0" err="1">
                <a:latin typeface="Speak Pro" panose="020B0504020101020102" pitchFamily="34" charset="0"/>
              </a:rPr>
              <a:t>test_result</a:t>
            </a:r>
            <a:r>
              <a:rPr lang="en-US" b="1" dirty="0">
                <a:latin typeface="Speak Pro" panose="020B0504020101020102" pitchFamily="34" charset="0"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132161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8E5955-4139-1ED3-43A6-B6D8B3C13E9E}"/>
              </a:ext>
            </a:extLst>
          </p:cNvPr>
          <p:cNvSpPr txBox="1">
            <a:spLocks/>
          </p:cNvSpPr>
          <p:nvPr/>
        </p:nvSpPr>
        <p:spPr>
          <a:xfrm>
            <a:off x="302874" y="209489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🦖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check and convert data type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r>
              <a:rPr lang="en-US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381C2-F8C1-F733-A1A4-ECB25A2374D6}"/>
              </a:ext>
            </a:extLst>
          </p:cNvPr>
          <p:cNvSpPr txBox="1"/>
          <p:nvPr/>
        </p:nvSpPr>
        <p:spPr>
          <a:xfrm>
            <a:off x="683340" y="13061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Speak Pro" panose="020B0504020101020102" pitchFamily="34" charset="0"/>
              </a:rPr>
              <a:t>To check class of object we use function </a:t>
            </a:r>
            <a:r>
              <a:rPr lang="en-US" b="1" dirty="0">
                <a:highlight>
                  <a:srgbClr val="FFFF00"/>
                </a:highlight>
              </a:rPr>
              <a:t>class ( x )</a:t>
            </a:r>
            <a:endParaRPr lang="LID4096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BC291-5FC7-5E4F-11D6-B6AA757DC66B}"/>
              </a:ext>
            </a:extLst>
          </p:cNvPr>
          <p:cNvSpPr txBox="1"/>
          <p:nvPr/>
        </p:nvSpPr>
        <p:spPr>
          <a:xfrm>
            <a:off x="5560674" y="1306140"/>
            <a:ext cx="452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✨</a:t>
            </a:r>
            <a:endParaRPr lang="LID4096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CA241-41EF-A763-1511-CCEEBF0A06FB}"/>
              </a:ext>
            </a:extLst>
          </p:cNvPr>
          <p:cNvSpPr/>
          <p:nvPr/>
        </p:nvSpPr>
        <p:spPr>
          <a:xfrm>
            <a:off x="683341" y="1781441"/>
            <a:ext cx="8440993" cy="46881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2AE67-0867-4472-8B64-43BD2D106F8C}"/>
              </a:ext>
            </a:extLst>
          </p:cNvPr>
          <p:cNvSpPr txBox="1"/>
          <p:nvPr/>
        </p:nvSpPr>
        <p:spPr>
          <a:xfrm>
            <a:off x="683340" y="1925065"/>
            <a:ext cx="814602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as.integer</a:t>
            </a:r>
            <a:r>
              <a:rPr lang="en-US" sz="1600" b="1" dirty="0"/>
              <a:t> ( ) </a:t>
            </a:r>
            <a:r>
              <a:rPr lang="en-US" sz="1600" b="1" dirty="0">
                <a:latin typeface="Speak Pro" panose="020B0504020101020102" pitchFamily="34" charset="0"/>
              </a:rPr>
              <a:t>– function convert data type to integer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as.character</a:t>
            </a:r>
            <a:r>
              <a:rPr lang="en-US" sz="1600" b="1" dirty="0"/>
              <a:t> ( ) </a:t>
            </a:r>
            <a:r>
              <a:rPr lang="en-US" sz="1600" b="1" dirty="0">
                <a:latin typeface="Speak Pro" panose="020B0504020101020102" pitchFamily="34" charset="0"/>
              </a:rPr>
              <a:t>– function convert data type to string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as.factor</a:t>
            </a:r>
            <a:r>
              <a:rPr lang="en-US" sz="1600" b="1" dirty="0"/>
              <a:t> ( ) </a:t>
            </a:r>
            <a:r>
              <a:rPr lang="en-US" sz="1600" b="1" dirty="0">
                <a:latin typeface="Speak Pro" panose="020B0504020101020102" pitchFamily="34" charset="0"/>
              </a:rPr>
              <a:t>– function convert data type to categories but can’t manually set the level of value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levels( ) </a:t>
            </a:r>
            <a:r>
              <a:rPr lang="en-US" sz="1600" b="1" dirty="0">
                <a:latin typeface="Speak Pro" panose="020B0504020101020102" pitchFamily="34" charset="0"/>
              </a:rPr>
              <a:t>– function to check the levels/hierarchical order of factor data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df$column</a:t>
            </a:r>
            <a:r>
              <a:rPr lang="en-US" sz="1600" b="1" dirty="0"/>
              <a:t> &lt;- factor (</a:t>
            </a:r>
            <a:r>
              <a:rPr lang="en-US" sz="1600" b="1" dirty="0" err="1"/>
              <a:t>df$column</a:t>
            </a:r>
            <a:r>
              <a:rPr lang="en-US" sz="1600" b="1" dirty="0"/>
              <a:t>, levels = c(“…”, “…” )</a:t>
            </a:r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>
                <a:latin typeface="Speak Pro" panose="020B0504020101020102" pitchFamily="34" charset="0"/>
              </a:rPr>
              <a:t>      </a:t>
            </a:r>
            <a:r>
              <a:rPr lang="en-US" sz="1600" b="1" dirty="0" err="1">
                <a:highlight>
                  <a:srgbClr val="FFFF00"/>
                </a:highlight>
                <a:latin typeface="Speak Pro" panose="020B0504020101020102" pitchFamily="34" charset="0"/>
              </a:rPr>
              <a:t>df$sex</a:t>
            </a:r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 &lt;- </a:t>
            </a:r>
            <a:r>
              <a:rPr lang="en-US" sz="1600" b="1" dirty="0" err="1">
                <a:highlight>
                  <a:srgbClr val="FFFF00"/>
                </a:highlight>
                <a:latin typeface="Speak Pro" panose="020B0504020101020102" pitchFamily="34" charset="0"/>
              </a:rPr>
              <a:t>as.factor</a:t>
            </a:r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 (</a:t>
            </a:r>
            <a:r>
              <a:rPr lang="en-US" sz="1600" b="1" dirty="0" err="1">
                <a:highlight>
                  <a:srgbClr val="FFFF00"/>
                </a:highlight>
                <a:latin typeface="Speak Pro" panose="020B0504020101020102" pitchFamily="34" charset="0"/>
              </a:rPr>
              <a:t>df$sex</a:t>
            </a:r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, levels = “Male”, “Female”)</a:t>
            </a:r>
          </a:p>
          <a:p>
            <a:r>
              <a:rPr lang="en-US" sz="1600" b="1" dirty="0">
                <a:latin typeface="Speak Pro" panose="020B0504020101020102" pitchFamily="34" charset="0"/>
              </a:rPr>
              <a:t>      “levels” parameter in function factor ( ) will assign the </a:t>
            </a:r>
          </a:p>
          <a:p>
            <a:r>
              <a:rPr lang="en-US" sz="1600" b="1" dirty="0">
                <a:latin typeface="Speak Pro" panose="020B0504020101020102" pitchFamily="34" charset="0"/>
              </a:rPr>
              <a:t>      category like 0, 1, 2 to the value in our variable automatically 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endParaRPr lang="LID4096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9FFB0-9516-D76B-EADB-6DF2D34A60A1}"/>
              </a:ext>
            </a:extLst>
          </p:cNvPr>
          <p:cNvSpPr txBox="1"/>
          <p:nvPr/>
        </p:nvSpPr>
        <p:spPr>
          <a:xfrm>
            <a:off x="302874" y="1560866"/>
            <a:ext cx="924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381832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FFE26B-0C4D-AB10-B9FA-F4CF5E44D05E}"/>
              </a:ext>
            </a:extLst>
          </p:cNvPr>
          <p:cNvSpPr txBox="1">
            <a:spLocks/>
          </p:cNvSpPr>
          <p:nvPr/>
        </p:nvSpPr>
        <p:spPr>
          <a:xfrm>
            <a:off x="511277" y="209489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String concatenation – a way to join the strings</a:t>
            </a:r>
            <a:r>
              <a:rPr lang="lo-LA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r>
              <a:rPr lang="en-US" sz="3600" b="1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10" name="Picture 9" descr="Concatenate:- to link things together in a series or chain">
            <a:extLst>
              <a:ext uri="{FF2B5EF4-FFF2-40B4-BE49-F238E27FC236}">
                <a16:creationId xmlns:a16="http://schemas.microsoft.com/office/drawing/2014/main" id="{7799A15E-E581-F0DA-D1D1-C452A28F4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" y="1457219"/>
            <a:ext cx="3609266" cy="3609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3F14A0-9702-BE3F-5D1F-30F1CDBBAF74}"/>
              </a:ext>
            </a:extLst>
          </p:cNvPr>
          <p:cNvSpPr txBox="1"/>
          <p:nvPr/>
        </p:nvSpPr>
        <p:spPr>
          <a:xfrm>
            <a:off x="4611330" y="1624367"/>
            <a:ext cx="34601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Operation on numeric data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x &lt;- 4</a:t>
            </a:r>
          </a:p>
          <a:p>
            <a:r>
              <a:rPr lang="en-US" b="1" dirty="0">
                <a:latin typeface="Speak Pro" panose="020B0504020101020102" pitchFamily="34" charset="0"/>
              </a:rPr>
              <a:t>y &lt;- 2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print(x + y)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9645B-DCC7-92C0-D245-305E678CB7D3}"/>
              </a:ext>
            </a:extLst>
          </p:cNvPr>
          <p:cNvSpPr txBox="1"/>
          <p:nvPr/>
        </p:nvSpPr>
        <p:spPr>
          <a:xfrm>
            <a:off x="4611330" y="3429000"/>
            <a:ext cx="346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&gt; we will get the output: </a:t>
            </a:r>
            <a:r>
              <a:rPr lang="en-US" b="1" dirty="0">
                <a:highlight>
                  <a:srgbClr val="FFFF00"/>
                </a:highlight>
                <a:latin typeface="Speak Pro" panose="020B0504020101020102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8A88E6-624E-A9C0-0C4F-FCD77AAEEB47}"/>
              </a:ext>
            </a:extLst>
          </p:cNvPr>
          <p:cNvSpPr txBox="1"/>
          <p:nvPr/>
        </p:nvSpPr>
        <p:spPr>
          <a:xfrm>
            <a:off x="8132104" y="1608978"/>
            <a:ext cx="34601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Operation on string data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x &lt;- “4”</a:t>
            </a:r>
          </a:p>
          <a:p>
            <a:r>
              <a:rPr lang="en-US" b="1" dirty="0">
                <a:latin typeface="Speak Pro" panose="020B0504020101020102" pitchFamily="34" charset="0"/>
              </a:rPr>
              <a:t>y &lt;- “2”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print(x + y)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747710-FBC3-E4FE-22F8-6766AE0E5C62}"/>
              </a:ext>
            </a:extLst>
          </p:cNvPr>
          <p:cNvSpPr txBox="1"/>
          <p:nvPr/>
        </p:nvSpPr>
        <p:spPr>
          <a:xfrm>
            <a:off x="8132104" y="3429000"/>
            <a:ext cx="346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&gt; we will get the output: </a:t>
            </a:r>
            <a:r>
              <a:rPr lang="en-US" b="1" dirty="0">
                <a:highlight>
                  <a:srgbClr val="FF0000"/>
                </a:highlight>
                <a:latin typeface="Speak Pro" panose="020B0504020101020102" pitchFamily="34" charset="0"/>
              </a:rPr>
              <a:t>error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BFBE20-0D0A-7C92-8524-A0125FF2C872}"/>
              </a:ext>
            </a:extLst>
          </p:cNvPr>
          <p:cNvSpPr txBox="1"/>
          <p:nvPr/>
        </p:nvSpPr>
        <p:spPr>
          <a:xfrm>
            <a:off x="4611330" y="4235488"/>
            <a:ext cx="6415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peak Pro" panose="020B0504020101020102" pitchFamily="34" charset="0"/>
              </a:rPr>
              <a:t>So how do we connect or link the two </a:t>
            </a:r>
            <a:r>
              <a:rPr lang="en-US" sz="2400" b="1" i="1" dirty="0">
                <a:solidFill>
                  <a:srgbClr val="FF0000"/>
                </a:solidFill>
                <a:latin typeface="Speak Pro" panose="020B0504020101020102" pitchFamily="34" charset="0"/>
              </a:rPr>
              <a:t>strings</a:t>
            </a:r>
            <a:r>
              <a:rPr lang="en-US" sz="2400" b="1" dirty="0">
                <a:latin typeface="Speak Pro" panose="020B0504020101020102" pitchFamily="34" charset="0"/>
              </a:rPr>
              <a:t> together?</a:t>
            </a:r>
            <a:endParaRPr lang="en-US" sz="2400" b="1" dirty="0">
              <a:highlight>
                <a:srgbClr val="FFFF00"/>
              </a:highlight>
              <a:latin typeface="Speak Pro" panose="020B0504020101020102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00FE12-A592-E3B9-B7F7-0D51B68796BF}"/>
              </a:ext>
            </a:extLst>
          </p:cNvPr>
          <p:cNvCxnSpPr>
            <a:cxnSpLocks/>
          </p:cNvCxnSpPr>
          <p:nvPr/>
        </p:nvCxnSpPr>
        <p:spPr>
          <a:xfrm>
            <a:off x="4709652" y="4205991"/>
            <a:ext cx="6567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F1F13FA-E529-351A-BA6D-CE9FDA3AFAA6}"/>
              </a:ext>
            </a:extLst>
          </p:cNvPr>
          <p:cNvSpPr/>
          <p:nvPr/>
        </p:nvSpPr>
        <p:spPr>
          <a:xfrm>
            <a:off x="599767" y="5400781"/>
            <a:ext cx="4414685" cy="1088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D28899-1E28-3436-30E6-70043E78E699}"/>
              </a:ext>
            </a:extLst>
          </p:cNvPr>
          <p:cNvSpPr txBox="1"/>
          <p:nvPr/>
        </p:nvSpPr>
        <p:spPr>
          <a:xfrm>
            <a:off x="698089" y="5503641"/>
            <a:ext cx="4414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paste ( ) </a:t>
            </a:r>
            <a:r>
              <a:rPr lang="en-US" sz="1600" b="1" dirty="0">
                <a:latin typeface="Speak Pro" panose="020B0504020101020102" pitchFamily="34" charset="0"/>
              </a:rPr>
              <a:t>– function to connect strings together</a:t>
            </a:r>
            <a:endParaRPr lang="LID4096" sz="1600" dirty="0"/>
          </a:p>
          <a:p>
            <a:r>
              <a:rPr lang="en-US" sz="1600" b="1" dirty="0"/>
              <a:t> </a:t>
            </a:r>
            <a:endParaRPr lang="LID4096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DBCD5C-F2B3-1B61-269D-92E6EE981404}"/>
              </a:ext>
            </a:extLst>
          </p:cNvPr>
          <p:cNvSpPr txBox="1"/>
          <p:nvPr/>
        </p:nvSpPr>
        <p:spPr>
          <a:xfrm>
            <a:off x="796411" y="5945036"/>
            <a:ext cx="4168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paste (x, y, sep = “any symbol”</a:t>
            </a:r>
            <a:r>
              <a:rPr lang="en-US" sz="1400" dirty="0"/>
              <a:t>)</a:t>
            </a:r>
            <a:r>
              <a:rPr lang="en-US" sz="1400" b="1" dirty="0"/>
              <a:t> </a:t>
            </a:r>
            <a:endParaRPr lang="LID4096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DF4E1C-5A10-B62D-3F65-EF7598BA4D3E}"/>
              </a:ext>
            </a:extLst>
          </p:cNvPr>
          <p:cNvSpPr txBox="1"/>
          <p:nvPr/>
        </p:nvSpPr>
        <p:spPr>
          <a:xfrm>
            <a:off x="235972" y="5159824"/>
            <a:ext cx="924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B61410-248E-EAC8-96A3-B29501C6B350}"/>
              </a:ext>
            </a:extLst>
          </p:cNvPr>
          <p:cNvSpPr txBox="1"/>
          <p:nvPr/>
        </p:nvSpPr>
        <p:spPr>
          <a:xfrm>
            <a:off x="5717461" y="5288963"/>
            <a:ext cx="2526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Speak Pro" panose="020B0504020101020102" pitchFamily="34" charset="0"/>
              </a:rPr>
              <a:t>x </a:t>
            </a:r>
            <a:r>
              <a:rPr lang="en-US" b="1" dirty="0">
                <a:latin typeface="Speak Pro" panose="020B0504020101020102" pitchFamily="34" charset="0"/>
              </a:rPr>
              <a:t>&lt;-</a:t>
            </a:r>
            <a:r>
              <a:rPr lang="en-US" sz="1800" b="1" dirty="0">
                <a:latin typeface="Speak Pro" panose="020B0504020101020102" pitchFamily="34" charset="0"/>
              </a:rPr>
              <a:t> “4”</a:t>
            </a:r>
          </a:p>
          <a:p>
            <a:r>
              <a:rPr lang="en-US" sz="1800" b="1" dirty="0">
                <a:latin typeface="Speak Pro" panose="020B0504020101020102" pitchFamily="34" charset="0"/>
              </a:rPr>
              <a:t>y </a:t>
            </a:r>
            <a:r>
              <a:rPr lang="en-US" b="1" dirty="0">
                <a:latin typeface="Speak Pro" panose="020B0504020101020102" pitchFamily="34" charset="0"/>
              </a:rPr>
              <a:t>&lt;-</a:t>
            </a:r>
            <a:r>
              <a:rPr lang="en-US" sz="1800" b="1" dirty="0">
                <a:latin typeface="Speak Pro" panose="020B0504020101020102" pitchFamily="34" charset="0"/>
              </a:rPr>
              <a:t> “1”</a:t>
            </a:r>
          </a:p>
          <a:p>
            <a:endParaRPr lang="en-US" sz="1800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paste (x, y, sep = “</a:t>
            </a:r>
            <a:r>
              <a:rPr lang="en-US" b="1" dirty="0">
                <a:solidFill>
                  <a:srgbClr val="FF0000"/>
                </a:solidFill>
                <a:latin typeface="Speak Pro" panose="020B0504020101020102" pitchFamily="34" charset="0"/>
              </a:rPr>
              <a:t>.</a:t>
            </a:r>
            <a:r>
              <a:rPr lang="en-US" b="1" dirty="0">
                <a:latin typeface="Speak Pro" panose="020B0504020101020102" pitchFamily="34" charset="0"/>
              </a:rPr>
              <a:t>”)</a:t>
            </a:r>
            <a:r>
              <a:rPr lang="en-US" sz="1800" b="1" dirty="0">
                <a:latin typeface="Speak Pro" panose="020B0504020101020102" pitchFamily="34" charset="0"/>
              </a:rPr>
              <a:t> 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B5C71-A7C4-66BC-F627-0404CCF3510D}"/>
              </a:ext>
            </a:extLst>
          </p:cNvPr>
          <p:cNvSpPr txBox="1"/>
          <p:nvPr/>
        </p:nvSpPr>
        <p:spPr>
          <a:xfrm>
            <a:off x="9178829" y="5775758"/>
            <a:ext cx="1366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Speak Pro" panose="020B0504020101020102" pitchFamily="34" charset="0"/>
              </a:rPr>
              <a:t>“4.1”</a:t>
            </a:r>
            <a:endParaRPr lang="LID4096" sz="3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43282-3BC2-9F8D-DB66-7D687FE59655}"/>
              </a:ext>
            </a:extLst>
          </p:cNvPr>
          <p:cNvSpPr txBox="1"/>
          <p:nvPr/>
        </p:nvSpPr>
        <p:spPr>
          <a:xfrm>
            <a:off x="8997348" y="5375267"/>
            <a:ext cx="1425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Speak Pro" panose="020B0504020101020102" pitchFamily="34" charset="0"/>
              </a:rPr>
              <a:t>The output is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1300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0" grpId="0"/>
      <p:bldP spid="21" grpId="0"/>
      <p:bldP spid="26" grpId="0" animBg="1"/>
      <p:bldP spid="28" grpId="0"/>
      <p:bldP spid="32" grpId="0"/>
      <p:bldP spid="34" grpId="0"/>
      <p:bldP spid="36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6F879A-96EC-9BD7-8AE9-9E5735A6C4A8}"/>
              </a:ext>
            </a:extLst>
          </p:cNvPr>
          <p:cNvSpPr txBox="1"/>
          <p:nvPr/>
        </p:nvSpPr>
        <p:spPr>
          <a:xfrm>
            <a:off x="1835409" y="1574646"/>
            <a:ext cx="8521181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In R, a 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library</a:t>
            </a:r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is a collection of functions, datasets, and other resources that extend the basic capabilities of R. </a:t>
            </a:r>
          </a:p>
          <a:p>
            <a:endParaRPr lang="en-US" sz="2800" dirty="0">
              <a:latin typeface="Speak Pro" panose="020B0504020101020102" pitchFamily="34" charset="0"/>
              <a:ea typeface="Sans Serif Collection" panose="020B0502040504020204" pitchFamily="34" charset="0"/>
              <a:cs typeface="Rod" panose="020F0502020204030204" pitchFamily="49" charset="-79"/>
            </a:endParaRPr>
          </a:p>
          <a:p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Libraries allow you to use additional tools 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without having to write all the functions yourself</a:t>
            </a:r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. </a:t>
            </a:r>
          </a:p>
          <a:p>
            <a:endParaRPr lang="en-US" sz="2800" dirty="0">
              <a:latin typeface="Speak Pro" panose="020B0504020101020102" pitchFamily="34" charset="0"/>
              <a:ea typeface="Sans Serif Collection" panose="020B0502040504020204" pitchFamily="34" charset="0"/>
              <a:cs typeface="Rod" panose="020F0502020204030204" pitchFamily="49" charset="-79"/>
            </a:endParaRPr>
          </a:p>
          <a:p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For example, the ggplot2 library provides functions for creating graphs and visualizations.</a:t>
            </a:r>
          </a:p>
          <a:p>
            <a:endParaRPr lang="LID4096" sz="1100" dirty="0"/>
          </a:p>
        </p:txBody>
      </p:sp>
    </p:spTree>
    <p:extLst>
      <p:ext uri="{BB962C8B-B14F-4D97-AF65-F5344CB8AC3E}">
        <p14:creationId xmlns:p14="http://schemas.microsoft.com/office/powerpoint/2010/main" val="2448173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FA62-4DB5-74F6-D87B-B5D2C3F6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F3B505-D05A-C4DC-EB3E-ADF6B83F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1128191"/>
            <a:ext cx="5124450" cy="4601617"/>
          </a:xfrm>
        </p:spPr>
        <p:txBody>
          <a:bodyPr>
            <a:normAutofit/>
          </a:bodyPr>
          <a:lstStyle/>
          <a:p>
            <a:r>
              <a:rPr lang="" dirty="0"/>
              <a:t>📆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lubridate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: </a:t>
            </a:r>
            <a:b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</a:br>
            <a:b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</a:b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date data will not be a headache for you anymore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26CB2-85F9-2166-5EEF-1C39B4D89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68" y="0"/>
            <a:ext cx="4177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99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0E47FCE-5D1C-39D2-60F0-E935B6EE47B9}"/>
              </a:ext>
            </a:extLst>
          </p:cNvPr>
          <p:cNvSpPr txBox="1">
            <a:spLocks/>
          </p:cNvSpPr>
          <p:nvPr/>
        </p:nvSpPr>
        <p:spPr>
          <a:xfrm>
            <a:off x="637170" y="583114"/>
            <a:ext cx="10129154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3600" dirty="0"/>
              <a:t>📆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lubridate – 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will make your life easier dealing with date data</a:t>
            </a:r>
            <a:r>
              <a:rPr lang="lo-LA" sz="36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​</a:t>
            </a:r>
            <a:r>
              <a:rPr lang="en-US" sz="36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endParaRPr lang="LID4096" sz="3600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B6133-4CE2-8202-2BE5-0A1D88608DDB}"/>
              </a:ext>
            </a:extLst>
          </p:cNvPr>
          <p:cNvSpPr txBox="1"/>
          <p:nvPr/>
        </p:nvSpPr>
        <p:spPr>
          <a:xfrm>
            <a:off x="637170" y="1948934"/>
            <a:ext cx="70005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</a:rPr>
              <a:t>Suppose our data has column: </a:t>
            </a:r>
            <a:r>
              <a:rPr lang="en-US" sz="2000" b="1" i="1" dirty="0">
                <a:solidFill>
                  <a:srgbClr val="FF0000"/>
                </a:solidFill>
                <a:latin typeface="Speak Pro" panose="020B0504020101020102" pitchFamily="34" charset="0"/>
              </a:rPr>
              <a:t>birth_year</a:t>
            </a:r>
            <a:r>
              <a:rPr lang="en-US" sz="2000" b="1" dirty="0">
                <a:latin typeface="Speak Pro" panose="020B0504020101020102" pitchFamily="34" charset="0"/>
              </a:rPr>
              <a:t>, </a:t>
            </a:r>
            <a:r>
              <a:rPr lang="en-US" sz="2000" b="1" i="1" dirty="0">
                <a:solidFill>
                  <a:srgbClr val="FF0000"/>
                </a:solidFill>
                <a:latin typeface="Speak Pro" panose="020B0504020101020102" pitchFamily="34" charset="0"/>
              </a:rPr>
              <a:t>birth_month</a:t>
            </a:r>
            <a:r>
              <a:rPr lang="en-US" sz="2000" b="1" dirty="0">
                <a:latin typeface="Speak Pro" panose="020B0504020101020102" pitchFamily="34" charset="0"/>
              </a:rPr>
              <a:t>, </a:t>
            </a:r>
            <a:r>
              <a:rPr lang="en-US" sz="2000" b="1" i="1" dirty="0">
                <a:solidFill>
                  <a:srgbClr val="FF0000"/>
                </a:solidFill>
                <a:latin typeface="Speak Pro" panose="020B0504020101020102" pitchFamily="34" charset="0"/>
              </a:rPr>
              <a:t>birth_day</a:t>
            </a:r>
            <a:endParaRPr lang="LID4096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9ECF2-FD4A-B671-41D9-8B755DA92F6A}"/>
              </a:ext>
            </a:extLst>
          </p:cNvPr>
          <p:cNvSpPr txBox="1"/>
          <p:nvPr/>
        </p:nvSpPr>
        <p:spPr>
          <a:xfrm>
            <a:off x="637170" y="2363401"/>
            <a:ext cx="70005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</a:rPr>
              <a:t>we want to find out </a:t>
            </a:r>
            <a:r>
              <a:rPr lang="en-US" sz="2000" b="1" dirty="0">
                <a:highlight>
                  <a:srgbClr val="FFFF00"/>
                </a:highlight>
                <a:latin typeface="Speak Pro" panose="020B0504020101020102" pitchFamily="34" charset="0"/>
              </a:rPr>
              <a:t>how old are they</a:t>
            </a:r>
            <a:r>
              <a:rPr lang="en-US" sz="2000" b="1" dirty="0">
                <a:latin typeface="Speak Pro" panose="020B0504020101020102" pitchFamily="34" charset="0"/>
              </a:rPr>
              <a:t>, what is your approach?</a:t>
            </a:r>
            <a:endParaRPr lang="LID4096" sz="2000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FAAF48-4D85-E166-70A2-6D0252568792}"/>
              </a:ext>
            </a:extLst>
          </p:cNvPr>
          <p:cNvSpPr/>
          <p:nvPr/>
        </p:nvSpPr>
        <p:spPr>
          <a:xfrm>
            <a:off x="892809" y="3932903"/>
            <a:ext cx="4414685" cy="2497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7A71C-3517-C794-86F7-6B8FCA7DE61C}"/>
              </a:ext>
            </a:extLst>
          </p:cNvPr>
          <p:cNvSpPr txBox="1"/>
          <p:nvPr/>
        </p:nvSpPr>
        <p:spPr>
          <a:xfrm>
            <a:off x="966137" y="4081237"/>
            <a:ext cx="434135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y-m-d format</a:t>
            </a:r>
          </a:p>
          <a:p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df$birth_date &lt;- paste(df$birth_year, 	df$birth_month, 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df$birth_day, sep = “-”)</a:t>
            </a:r>
            <a:endParaRPr lang="LID4096" sz="12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endParaRPr lang="LID4096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6FE17B-9895-18E9-6CD4-3C4B286F11FD}"/>
              </a:ext>
            </a:extLst>
          </p:cNvPr>
          <p:cNvSpPr txBox="1"/>
          <p:nvPr/>
        </p:nvSpPr>
        <p:spPr>
          <a:xfrm>
            <a:off x="966136" y="5550489"/>
            <a:ext cx="416805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 (lubridate)</a:t>
            </a:r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df$birth_date &lt;- 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ymd(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df$birthday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LID4096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A9B84B-5F90-AD41-F13C-CD9503FFB770}"/>
              </a:ext>
            </a:extLst>
          </p:cNvPr>
          <p:cNvSpPr txBox="1"/>
          <p:nvPr/>
        </p:nvSpPr>
        <p:spPr>
          <a:xfrm>
            <a:off x="892809" y="3181371"/>
            <a:ext cx="4414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 1 –</a:t>
            </a:r>
            <a:r>
              <a:rPr lang="en-US" dirty="0"/>
              <a:t> String </a:t>
            </a:r>
            <a:r>
              <a:rPr lang="en-US" dirty="0" err="1"/>
              <a:t>concat</a:t>
            </a:r>
            <a:r>
              <a:rPr lang="en-US" dirty="0"/>
              <a:t> then convert to date</a:t>
            </a:r>
            <a:endParaRPr lang="LID4096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3A81B3-5DD3-5ED0-2433-923DABFB24B8}"/>
              </a:ext>
            </a:extLst>
          </p:cNvPr>
          <p:cNvSpPr/>
          <p:nvPr/>
        </p:nvSpPr>
        <p:spPr>
          <a:xfrm>
            <a:off x="6351639" y="3932903"/>
            <a:ext cx="4414685" cy="2497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B783F-17CD-487B-F816-6AFF26AD2BFA}"/>
              </a:ext>
            </a:extLst>
          </p:cNvPr>
          <p:cNvSpPr txBox="1"/>
          <p:nvPr/>
        </p:nvSpPr>
        <p:spPr>
          <a:xfrm>
            <a:off x="6542954" y="4081237"/>
            <a:ext cx="3790749" cy="2096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y-m-d format</a:t>
            </a:r>
          </a:p>
          <a:p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 (lubridate)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df$birth_date &lt;- </a:t>
            </a:r>
            <a:r>
              <a:rPr lang="en-US" sz="1200" b="1" dirty="0" err="1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make_date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year = df$birth_year,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month = df$birth_month,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day = df$birth_day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LID4096" dirty="0">
              <a:highlight>
                <a:srgbClr val="FFFF00"/>
              </a:highlight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C03E3-2794-2BA8-4F30-4CC153C65B05}"/>
              </a:ext>
            </a:extLst>
          </p:cNvPr>
          <p:cNvSpPr txBox="1"/>
          <p:nvPr/>
        </p:nvSpPr>
        <p:spPr>
          <a:xfrm>
            <a:off x="6351639" y="3181371"/>
            <a:ext cx="4414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 2 –</a:t>
            </a:r>
            <a:r>
              <a:rPr lang="en-US" dirty="0"/>
              <a:t> collapse all columns and create a date</a:t>
            </a:r>
            <a:endParaRPr lang="LID4096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6BCD4A-DDC5-36D7-C0FD-E1951C8EC449}"/>
              </a:ext>
            </a:extLst>
          </p:cNvPr>
          <p:cNvSpPr txBox="1"/>
          <p:nvPr/>
        </p:nvSpPr>
        <p:spPr>
          <a:xfrm>
            <a:off x="513853" y="3662082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2CA253-88F0-33E6-D10D-CAD8D0DA189A}"/>
              </a:ext>
            </a:extLst>
          </p:cNvPr>
          <p:cNvSpPr txBox="1"/>
          <p:nvPr/>
        </p:nvSpPr>
        <p:spPr>
          <a:xfrm>
            <a:off x="5995013" y="3640515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341525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4" grpId="0"/>
      <p:bldP spid="17" grpId="0" animBg="1"/>
      <p:bldP spid="18" grpId="0"/>
      <p:bldP spid="20" grpId="0"/>
      <p:bldP spid="22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BCDBF-A360-08F1-6366-82D5E33DDD58}"/>
              </a:ext>
            </a:extLst>
          </p:cNvPr>
          <p:cNvSpPr txBox="1"/>
          <p:nvPr/>
        </p:nvSpPr>
        <p:spPr>
          <a:xfrm>
            <a:off x="1627414" y="2551837"/>
            <a:ext cx="89371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Now we get the date data already, how do we use this information to find the 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age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of our observations?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14262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03D35A-A228-CB98-B53B-85D58ED27C89}"/>
              </a:ext>
            </a:extLst>
          </p:cNvPr>
          <p:cNvSpPr/>
          <p:nvPr/>
        </p:nvSpPr>
        <p:spPr>
          <a:xfrm>
            <a:off x="5828431" y="5975926"/>
            <a:ext cx="5576461" cy="528007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40A4A-6970-C6EC-6C11-DDBCEFB3AD56}"/>
              </a:ext>
            </a:extLst>
          </p:cNvPr>
          <p:cNvSpPr/>
          <p:nvPr/>
        </p:nvSpPr>
        <p:spPr>
          <a:xfrm>
            <a:off x="838200" y="3054072"/>
            <a:ext cx="10549661" cy="1081548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F9E1A-9485-6862-23CD-E62DDF80345A}"/>
              </a:ext>
            </a:extLst>
          </p:cNvPr>
          <p:cNvSpPr txBox="1"/>
          <p:nvPr/>
        </p:nvSpPr>
        <p:spPr>
          <a:xfrm>
            <a:off x="978310" y="3279303"/>
            <a:ext cx="10375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floor (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time_length ( 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interval( </a:t>
            </a:r>
            <a:r>
              <a:rPr lang="en-US" sz="32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df$date, </a:t>
            </a:r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today ( ) 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n-US" sz="32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, “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years</a:t>
            </a:r>
            <a:r>
              <a:rPr lang="en-US" sz="32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”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LID4096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5097F107-7C01-5D35-645B-BFC5E4B6524D}"/>
              </a:ext>
            </a:extLst>
          </p:cNvPr>
          <p:cNvCxnSpPr>
            <a:cxnSpLocks/>
          </p:cNvCxnSpPr>
          <p:nvPr/>
        </p:nvCxnSpPr>
        <p:spPr>
          <a:xfrm rot="5400000">
            <a:off x="7495869" y="3968544"/>
            <a:ext cx="739877" cy="53094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EEA6A4-1811-D86E-FFF9-0B9EBA8DF847}"/>
              </a:ext>
            </a:extLst>
          </p:cNvPr>
          <p:cNvSpPr txBox="1"/>
          <p:nvPr/>
        </p:nvSpPr>
        <p:spPr>
          <a:xfrm>
            <a:off x="6941574" y="4753357"/>
            <a:ext cx="1818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  <a:latin typeface="Speak Pro" panose="020B0504020101020102" pitchFamily="34" charset="0"/>
              </a:rPr>
              <a:t>1. today () </a:t>
            </a:r>
            <a:r>
              <a:rPr lang="en-US" sz="1600" b="1" dirty="0">
                <a:latin typeface="Speak Pro" panose="020B0504020101020102" pitchFamily="34" charset="0"/>
              </a:rPr>
              <a:t>– function to get today’s 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90AA21-B77B-C591-3DC7-A0ADDA0CBBB5}"/>
              </a:ext>
            </a:extLst>
          </p:cNvPr>
          <p:cNvSpPr txBox="1"/>
          <p:nvPr/>
        </p:nvSpPr>
        <p:spPr>
          <a:xfrm>
            <a:off x="1847240" y="4742229"/>
            <a:ext cx="27144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peak Pro" panose="020B0504020101020102" pitchFamily="34" charset="0"/>
              </a:rPr>
              <a:t>2. Interval () </a:t>
            </a:r>
            <a:r>
              <a:rPr lang="en-US" sz="1600" b="1" dirty="0">
                <a:latin typeface="Speak Pro" panose="020B0504020101020102" pitchFamily="34" charset="0"/>
              </a:rPr>
              <a:t>– creates a time span between two points in time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>
                <a:latin typeface="Speak Pro" panose="020B0504020101020102" pitchFamily="34" charset="0"/>
              </a:rPr>
              <a:t>Ex. Interval between our birthdate and today’s date 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EA7B230-616D-645C-E32D-2A94E492DB60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3204444" y="3864077"/>
            <a:ext cx="1918165" cy="87815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3BBF9D-3F12-C601-DE3F-242965400756}"/>
              </a:ext>
            </a:extLst>
          </p:cNvPr>
          <p:cNvSpPr txBox="1"/>
          <p:nvPr/>
        </p:nvSpPr>
        <p:spPr>
          <a:xfrm>
            <a:off x="7063028" y="445608"/>
            <a:ext cx="31175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peak Pro" panose="020B0504020101020102" pitchFamily="34" charset="0"/>
              </a:rPr>
              <a:t>3. time_length () </a:t>
            </a:r>
            <a:r>
              <a:rPr lang="en-US" sz="1600" b="1" dirty="0">
                <a:latin typeface="Speak Pro" panose="020B0504020101020102" pitchFamily="34" charset="0"/>
              </a:rPr>
              <a:t>– </a:t>
            </a:r>
            <a:r>
              <a:rPr lang="" sz="1600" dirty="0"/>
              <a:t>How long is this time interval, in the unit specifed?</a:t>
            </a:r>
          </a:p>
          <a:p>
            <a:endParaRPr lang="" sz="1600" b="1" dirty="0">
              <a:latin typeface="Speak Pro" panose="020B0504020101020102" pitchFamily="34" charset="0"/>
            </a:endParaRPr>
          </a:p>
          <a:p>
            <a:r>
              <a:rPr lang="" sz="1600" b="1" dirty="0">
                <a:latin typeface="Speak Pro" panose="020B0504020101020102" pitchFamily="34" charset="0"/>
              </a:rPr>
              <a:t>Ex. time_length(</a:t>
            </a:r>
          </a:p>
          <a:p>
            <a:r>
              <a:rPr lang="" sz="1600" b="1" dirty="0">
                <a:latin typeface="Speak Pro" panose="020B0504020101020102" pitchFamily="34" charset="0"/>
              </a:rPr>
              <a:t>     two_point_of_time, </a:t>
            </a:r>
          </a:p>
          <a:p>
            <a:r>
              <a:rPr lang="" sz="1600" b="1" dirty="0">
                <a:latin typeface="Speak Pro" panose="020B0504020101020102" pitchFamily="34" charset="0"/>
              </a:rPr>
              <a:t>     default unit == “second”)</a:t>
            </a:r>
          </a:p>
          <a:p>
            <a:endParaRPr lang="" sz="1600" b="1" dirty="0">
              <a:latin typeface="Speak Pro" panose="020B0504020101020102" pitchFamily="34" charset="0"/>
            </a:endParaRPr>
          </a:p>
          <a:p>
            <a:r>
              <a:rPr lang="" sz="1600" b="1" dirty="0">
                <a:latin typeface="Speak Pro" panose="020B0504020101020102" pitchFamily="34" charset="0"/>
              </a:rPr>
              <a:t># “days”, “months”, “years”</a:t>
            </a:r>
            <a:endParaRPr lang="en-US" sz="1600" b="1" dirty="0">
              <a:latin typeface="Speak Pro" panose="020B0504020101020102" pitchFamily="34" charset="0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EE8F5062-7285-AD82-DE33-6EA419CA4343}"/>
              </a:ext>
            </a:extLst>
          </p:cNvPr>
          <p:cNvCxnSpPr>
            <a:cxnSpLocks/>
          </p:cNvCxnSpPr>
          <p:nvPr/>
        </p:nvCxnSpPr>
        <p:spPr>
          <a:xfrm flipV="1">
            <a:off x="4267200" y="1959429"/>
            <a:ext cx="2362200" cy="1486015"/>
          </a:xfrm>
          <a:prstGeom prst="curvedConnector3">
            <a:avLst>
              <a:gd name="adj1" fmla="val 161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C2A1910-652C-4261-BD56-EC324256A552}"/>
              </a:ext>
            </a:extLst>
          </p:cNvPr>
          <p:cNvSpPr txBox="1"/>
          <p:nvPr/>
        </p:nvSpPr>
        <p:spPr>
          <a:xfrm>
            <a:off x="897937" y="232314"/>
            <a:ext cx="28983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  <a:latin typeface="Speak Pro" panose="020B0504020101020102" pitchFamily="34" charset="0"/>
              </a:rPr>
              <a:t>4. floor () </a:t>
            </a:r>
            <a:r>
              <a:rPr lang="en-US" sz="1600" b="1" dirty="0">
                <a:latin typeface="Speak Pro" panose="020B0504020101020102" pitchFamily="34" charset="0"/>
              </a:rPr>
              <a:t>- takes a number and rounds it down to the nearest whole number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>
                <a:highlight>
                  <a:srgbClr val="FFFF00"/>
                </a:highlight>
                <a:latin typeface="Speak Pro" panose="020B0504020101020102" pitchFamily="34" charset="0"/>
              </a:rPr>
              <a:t>floor () x round ()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latin typeface="Speak Pro" panose="020B0504020101020102" pitchFamily="34" charset="0"/>
              </a:rPr>
              <a:t>floor() always goes down.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latin typeface="Speak Pro" panose="020B0504020101020102" pitchFamily="34" charset="0"/>
              </a:rPr>
              <a:t>ceiling () always goes up 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latin typeface="Speak Pro" panose="020B0504020101020102" pitchFamily="34" charset="0"/>
              </a:rPr>
              <a:t>round() goes to the nearest whole number.</a:t>
            </a:r>
            <a:endParaRPr lang="en-US" sz="1600" b="1" dirty="0">
              <a:highlight>
                <a:srgbClr val="FFFF00"/>
              </a:highlight>
              <a:latin typeface="Speak Pro" panose="020B0504020101020102" pitchFamily="34" charset="0"/>
            </a:endParaRP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B338C6D1-BB68-FC47-1B8D-EC880A35FE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1281" y="2820162"/>
            <a:ext cx="671918" cy="3114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E5013E2-12A1-7629-4355-93C0FD788E09}"/>
              </a:ext>
            </a:extLst>
          </p:cNvPr>
          <p:cNvSpPr txBox="1"/>
          <p:nvPr/>
        </p:nvSpPr>
        <p:spPr>
          <a:xfrm>
            <a:off x="10952608" y="2715373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BCB8E-F974-E423-DA25-031BF4731170}"/>
              </a:ext>
            </a:extLst>
          </p:cNvPr>
          <p:cNvSpPr txBox="1"/>
          <p:nvPr/>
        </p:nvSpPr>
        <p:spPr>
          <a:xfrm>
            <a:off x="5593163" y="6086042"/>
            <a:ext cx="6334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df$age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&lt;- floor ( 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time_length (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interval( </a:t>
            </a:r>
            <a:r>
              <a:rPr lang="en-US" sz="14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df$date, </a:t>
            </a: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today ( )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n-US" sz="14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, “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years</a:t>
            </a:r>
            <a:r>
              <a:rPr lang="en-US" sz="14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” 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LID4096" sz="12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4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  <p:bldP spid="12" grpId="0"/>
      <p:bldP spid="19" grpId="0"/>
      <p:bldP spid="37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57C9A1-2030-C99F-46F7-DFF61F73E673}"/>
              </a:ext>
            </a:extLst>
          </p:cNvPr>
          <p:cNvSpPr/>
          <p:nvPr/>
        </p:nvSpPr>
        <p:spPr>
          <a:xfrm>
            <a:off x="1032739" y="4079228"/>
            <a:ext cx="2679290" cy="1284166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9A44B4-07D8-A865-0B8C-82CD2460EFE6}"/>
              </a:ext>
            </a:extLst>
          </p:cNvPr>
          <p:cNvSpPr/>
          <p:nvPr/>
        </p:nvSpPr>
        <p:spPr>
          <a:xfrm>
            <a:off x="642259" y="1650338"/>
            <a:ext cx="5508170" cy="1284166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1488B-2921-CD5A-ECEA-5F29B7D6A816}"/>
              </a:ext>
            </a:extLst>
          </p:cNvPr>
          <p:cNvSpPr txBox="1"/>
          <p:nvPr/>
        </p:nvSpPr>
        <p:spPr>
          <a:xfrm>
            <a:off x="1099638" y="1100588"/>
            <a:ext cx="4414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Extracting parts of date </a:t>
            </a:r>
            <a:r>
              <a:rPr lang="en-US" b="1" dirty="0" err="1"/>
              <a:t>date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65D05-F2AC-31B6-9C4B-D01655DD6400}"/>
              </a:ext>
            </a:extLst>
          </p:cNvPr>
          <p:cNvSpPr txBox="1"/>
          <p:nvPr/>
        </p:nvSpPr>
        <p:spPr>
          <a:xfrm>
            <a:off x="794659" y="1830756"/>
            <a:ext cx="5508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Speak Pro" panose="020B0504020101020102" pitchFamily="34" charset="0"/>
              </a:rPr>
              <a:t>year (``date``)	-</a:t>
            </a:r>
            <a:r>
              <a:rPr lang="en-US" b="1" dirty="0">
                <a:latin typeface="Speak Pro" panose="020B0504020101020102" pitchFamily="34" charset="0"/>
              </a:rPr>
              <a:t>     extract year from date data</a:t>
            </a:r>
            <a:endParaRPr lang="en-US" sz="1800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month (``date``)	-     extract month from date data</a:t>
            </a:r>
          </a:p>
          <a:p>
            <a:r>
              <a:rPr lang="en-US" b="1" dirty="0">
                <a:latin typeface="Speak Pro" panose="020B0504020101020102" pitchFamily="34" charset="0"/>
              </a:rPr>
              <a:t>day (``date``)	-     extract day from date data</a:t>
            </a:r>
            <a:endParaRPr lang="LID4096" b="1" dirty="0">
              <a:latin typeface="Speak Pro" panose="020B0504020101020102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ECAC8-88C4-2EBC-88A8-1679682EC55B}"/>
              </a:ext>
            </a:extLst>
          </p:cNvPr>
          <p:cNvSpPr txBox="1"/>
          <p:nvPr/>
        </p:nvSpPr>
        <p:spPr>
          <a:xfrm>
            <a:off x="1219382" y="4259646"/>
            <a:ext cx="28301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Speak Pro" panose="020B0504020101020102" pitchFamily="34" charset="0"/>
              </a:rPr>
              <a:t>ymd("2026-08-21")</a:t>
            </a:r>
          </a:p>
          <a:p>
            <a:r>
              <a:rPr lang="en-US" sz="1800" b="1" dirty="0">
                <a:latin typeface="Speak Pro" panose="020B0504020101020102" pitchFamily="34" charset="0"/>
              </a:rPr>
              <a:t>dmy("21-08-2026")</a:t>
            </a:r>
          </a:p>
          <a:p>
            <a:r>
              <a:rPr lang="en-US" sz="1800" b="1" dirty="0">
                <a:latin typeface="Speak Pro" panose="020B0504020101020102" pitchFamily="34" charset="0"/>
              </a:rPr>
              <a:t>mdy("08-21-2026")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78648-B53F-AA8A-27CE-125F8E6A01E5}"/>
              </a:ext>
            </a:extLst>
          </p:cNvPr>
          <p:cNvSpPr txBox="1"/>
          <p:nvPr/>
        </p:nvSpPr>
        <p:spPr>
          <a:xfrm>
            <a:off x="1099638" y="3605914"/>
            <a:ext cx="4414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Convert strings to date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ED0D14-FF72-8C48-BBD3-AC0D85667AE6}"/>
              </a:ext>
            </a:extLst>
          </p:cNvPr>
          <p:cNvSpPr txBox="1"/>
          <p:nvPr/>
        </p:nvSpPr>
        <p:spPr>
          <a:xfrm>
            <a:off x="5774345" y="1357950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D631F-A0AC-B00C-0ACF-441226BD2750}"/>
              </a:ext>
            </a:extLst>
          </p:cNvPr>
          <p:cNvSpPr txBox="1"/>
          <p:nvPr/>
        </p:nvSpPr>
        <p:spPr>
          <a:xfrm>
            <a:off x="3306980" y="3825059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21" name="Picture 20" descr="Dates and times with lubridate :: Cheatsheet">
            <a:extLst>
              <a:ext uri="{FF2B5EF4-FFF2-40B4-BE49-F238E27FC236}">
                <a16:creationId xmlns:a16="http://schemas.microsoft.com/office/drawing/2014/main" id="{1A9EA2D9-1670-91A8-D0AE-0AF1BC8E0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228" y="893722"/>
            <a:ext cx="4882913" cy="37731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CB0D48-1AB2-B311-0DE0-72EDD48C78CF}"/>
              </a:ext>
            </a:extLst>
          </p:cNvPr>
          <p:cNvSpPr txBox="1"/>
          <p:nvPr/>
        </p:nvSpPr>
        <p:spPr>
          <a:xfrm>
            <a:off x="5623142" y="47998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https://rstudio.github.io/cheatsheets/html/lubridate.html</a:t>
            </a:r>
          </a:p>
        </p:txBody>
      </p:sp>
    </p:spTree>
    <p:extLst>
      <p:ext uri="{BB962C8B-B14F-4D97-AF65-F5344CB8AC3E}">
        <p14:creationId xmlns:p14="http://schemas.microsoft.com/office/powerpoint/2010/main" val="275446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0DB7C1-CB95-5BDD-CEEC-236691C1F0C8}"/>
              </a:ext>
            </a:extLst>
          </p:cNvPr>
          <p:cNvSpPr txBox="1">
            <a:spLocks/>
          </p:cNvSpPr>
          <p:nvPr/>
        </p:nvSpPr>
        <p:spPr>
          <a:xfrm>
            <a:off x="302874" y="186283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Assignment week 3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98225-C6B5-B89D-AE55-6E2346772188}"/>
              </a:ext>
            </a:extLst>
          </p:cNvPr>
          <p:cNvSpPr txBox="1"/>
          <p:nvPr/>
        </p:nvSpPr>
        <p:spPr>
          <a:xfrm>
            <a:off x="683342" y="1471933"/>
            <a:ext cx="98470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Convert categories in column “province” to factor with the reference province is “Savannakhet”, the rest order is up to you</a:t>
            </a:r>
          </a:p>
          <a:p>
            <a:pPr lvl="1"/>
            <a:r>
              <a:rPr lang="en-US" b="1" dirty="0">
                <a:latin typeface="Speak Pro" panose="020B0504020101020102" pitchFamily="34" charset="0"/>
              </a:rPr>
              <a:t>	example approach: Savannakhet (1), Champasak (2) . . .</a:t>
            </a:r>
          </a:p>
          <a:p>
            <a:pPr marL="342900" indent="-342900">
              <a:buAutoNum type="arabicPeriod"/>
            </a:pPr>
            <a:endParaRPr lang="en-US" b="1" dirty="0">
              <a:latin typeface="Speak Pro" panose="020B0504020101020102" pitchFamily="34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Convert data type of birth_year to integer, then find the average year using function mean() of all participants</a:t>
            </a:r>
          </a:p>
          <a:p>
            <a:pPr marL="342900" indent="-342900">
              <a:buAutoNum type="arabicPeriod"/>
            </a:pPr>
            <a:endParaRPr lang="en-US" b="1" dirty="0">
              <a:latin typeface="Speak Pro" panose="020B0504020101020102" pitchFamily="34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Create a new column in a dataset called “</a:t>
            </a:r>
            <a:r>
              <a:rPr lang="en-US" b="1" dirty="0" err="1">
                <a:latin typeface="Speak Pro" panose="020B0504020101020102" pitchFamily="34" charset="0"/>
              </a:rPr>
              <a:t>work_n_sex</a:t>
            </a:r>
            <a:r>
              <a:rPr lang="en-US" b="1" dirty="0">
                <a:latin typeface="Speak Pro" panose="020B0504020101020102" pitchFamily="34" charset="0"/>
              </a:rPr>
              <a:t>” and do string concatenation of column “occupation” and “sex”, connected with “-”</a:t>
            </a:r>
          </a:p>
          <a:p>
            <a:r>
              <a:rPr lang="en-US" b="1" dirty="0">
                <a:latin typeface="Speak Pro" panose="020B0504020101020102" pitchFamily="34" charset="0"/>
              </a:rPr>
              <a:t>	example outcome: “Teacher-Male”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4. We want to find out how many days does it take for them to have the first symptoms of dengue until visit date?</a:t>
            </a:r>
          </a:p>
        </p:txBody>
      </p:sp>
    </p:spTree>
    <p:extLst>
      <p:ext uri="{BB962C8B-B14F-4D97-AF65-F5344CB8AC3E}">
        <p14:creationId xmlns:p14="http://schemas.microsoft.com/office/powerpoint/2010/main" val="37803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14CD3-1D0C-B868-9A51-FACE5183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46B4-1CC3-2953-53A9-D5470926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441"/>
            <a:ext cx="10515600" cy="1325563"/>
          </a:xfrm>
        </p:spPr>
        <p:txBody>
          <a:bodyPr>
            <a:normAutofit/>
          </a:bodyPr>
          <a:lstStyle/>
          <a:p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💢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ໃນການຂຽນໂປແກມທຸກໆພາສາ, ຈະມີ 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Core Building Block</a:t>
            </a:r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ຫຼັກໆ</a:t>
            </a:r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4000" dirty="0">
                <a:latin typeface="Speak Pro" panose="020B0504020101020102" pitchFamily="34" charset="0"/>
                <a:cs typeface="Hinsiew " panose="02000503000000000000" pitchFamily="50" charset="0"/>
              </a:rPr>
              <a:t>5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ຢ່າງ:</a:t>
            </a:r>
            <a:endParaRPr lang="LID4096" sz="4000" dirty="0">
              <a:latin typeface="Noto Sans Lao" panose="020B0502040504020204" pitchFamily="34" charset="0"/>
              <a:cs typeface="Noto Sans Lao" panose="020B0502040504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B289D6-FDA2-5126-0BE6-313450CD1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588" y="1833177"/>
            <a:ext cx="5024823" cy="502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54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CA0E-FEF7-6CB4-4A80-0ECB11A1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B2D00F-0D43-7B06-6D06-DEBB46B65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85" y="2186464"/>
            <a:ext cx="4084830" cy="45160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7CAA-BABB-051F-5872-C65D4EB7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🔄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lo-LA" dirty="0">
                <a:latin typeface="Noto Sans Lao" panose="020B0502040504020204" pitchFamily="34" charset="0"/>
                <a:cs typeface="Noto Sans Lao" panose="020B0502040504020204" pitchFamily="34" charset="0"/>
              </a:rPr>
              <a:t>ລຳດັບການເຮັດວຽກໂປແກມ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Control Flow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50836-2B05-EB0A-60C2-F2824CBEC29E}"/>
              </a:ext>
            </a:extLst>
          </p:cNvPr>
          <p:cNvSpPr txBox="1"/>
          <p:nvPr/>
        </p:nvSpPr>
        <p:spPr>
          <a:xfrm>
            <a:off x="1048708" y="1582533"/>
            <a:ext cx="10305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2400" dirty="0">
                <a:latin typeface="Noto Sans Lao" panose="020B0502040504020204" pitchFamily="34" charset="0"/>
                <a:cs typeface="Noto Sans Lao" panose="020B0502040504020204" pitchFamily="34" charset="0"/>
              </a:rPr>
              <a:t>ໝາຍເຖິງຄຳສັ່ງທີ່ໃຊ້ຄວບຄຸມທິດທາງການເຮັດວຽກຂອງ </a:t>
            </a:r>
            <a:r>
              <a:rPr lang="en-US" sz="2400" b="1" dirty="0">
                <a:latin typeface="Speak Pro" panose="020B0504020101020102" pitchFamily="34" charset="0"/>
                <a:cs typeface="Hinsiew " panose="02000503000000000000" pitchFamily="50" charset="0"/>
              </a:rPr>
              <a:t>code </a:t>
            </a:r>
            <a:r>
              <a:rPr lang="lo-LA" sz="2400" dirty="0">
                <a:latin typeface="Noto Sans Lao" panose="020B0502040504020204" pitchFamily="34" charset="0"/>
                <a:cs typeface="Noto Sans Lao" panose="020B0502040504020204" pitchFamily="34" charset="0"/>
              </a:rPr>
              <a:t>ໃຫ້ເຮັດຕາມເງື່ອນໄຂ </a:t>
            </a:r>
            <a:r>
              <a:rPr lang="en-US" sz="2400" b="1" dirty="0">
                <a:solidFill>
                  <a:schemeClr val="accent2"/>
                </a:solidFill>
                <a:latin typeface="Speak Pro" panose="020B0504020101020102" pitchFamily="34" charset="0"/>
                <a:cs typeface="Hinsiew " panose="02000503000000000000" pitchFamily="50" charset="0"/>
              </a:rPr>
              <a:t>(if / else)</a:t>
            </a:r>
            <a:r>
              <a:rPr lang="en-US" sz="2400" b="1" dirty="0">
                <a:latin typeface="Speak Pro" panose="020B0504020101020102" pitchFamily="34" charset="0"/>
                <a:cs typeface="Hinsiew " panose="02000503000000000000" pitchFamily="50" charset="0"/>
              </a:rPr>
              <a:t> </a:t>
            </a:r>
            <a:r>
              <a:rPr lang="lo-LA" sz="2400" dirty="0">
                <a:latin typeface="Noto Sans Lao" panose="020B0502040504020204" pitchFamily="34" charset="0"/>
                <a:cs typeface="Noto Sans Lao" panose="020B0502040504020204" pitchFamily="34" charset="0"/>
              </a:rPr>
              <a:t>ຫຼື ເຮັດວຽກຊ້ຳ -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Speak Pro" panose="020B0504020101020102" pitchFamily="34" charset="0"/>
                <a:cs typeface="Hinsiew " panose="02000503000000000000" pitchFamily="50" charset="0"/>
              </a:rPr>
              <a:t>loop (for / while)</a:t>
            </a:r>
            <a:endParaRPr lang="LID4096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215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32CC987-1067-F812-C64E-E3759A030557}"/>
              </a:ext>
            </a:extLst>
          </p:cNvPr>
          <p:cNvSpPr/>
          <p:nvPr/>
        </p:nvSpPr>
        <p:spPr>
          <a:xfrm>
            <a:off x="6506296" y="981697"/>
            <a:ext cx="4025971" cy="2947152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E288B6-9193-8FB0-897B-8779E3413D3F}"/>
              </a:ext>
            </a:extLst>
          </p:cNvPr>
          <p:cNvSpPr/>
          <p:nvPr/>
        </p:nvSpPr>
        <p:spPr>
          <a:xfrm>
            <a:off x="1113252" y="2906986"/>
            <a:ext cx="2908354" cy="1929885"/>
          </a:xfrm>
          <a:prstGeom prst="rect">
            <a:avLst/>
          </a:prstGeom>
          <a:solidFill>
            <a:srgbClr val="E7F7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B7FBB-F455-D877-E896-41931A2B3051}"/>
              </a:ext>
            </a:extLst>
          </p:cNvPr>
          <p:cNvSpPr txBox="1"/>
          <p:nvPr/>
        </p:nvSpPr>
        <p:spPr>
          <a:xfrm>
            <a:off x="1238864" y="3061018"/>
            <a:ext cx="27827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ifelse(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condition</a:t>
            </a:r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value_if_TRUE</a:t>
            </a:r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value_if_FALSE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79FB1-68E4-97AE-DD61-02E9DDBA1E0D}"/>
              </a:ext>
            </a:extLst>
          </p:cNvPr>
          <p:cNvSpPr txBox="1"/>
          <p:nvPr/>
        </p:nvSpPr>
        <p:spPr>
          <a:xfrm>
            <a:off x="1074920" y="5377035"/>
            <a:ext cx="35344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df$age_group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&lt;- ifelse(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df$age &lt; 25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“young”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“old”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     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FEED0-AEC6-1770-B67E-2D0A68365C4B}"/>
              </a:ext>
            </a:extLst>
          </p:cNvPr>
          <p:cNvSpPr txBox="1"/>
          <p:nvPr/>
        </p:nvSpPr>
        <p:spPr>
          <a:xfrm>
            <a:off x="7093385" y="1013389"/>
            <a:ext cx="32802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ifelse(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condition_1,</a:t>
            </a: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result_1,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ifelse(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condition_2,</a:t>
            </a: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result_2,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result_3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)</a:t>
            </a:r>
          </a:p>
          <a:p>
            <a:r>
              <a:rPr lang="en-US" sz="2000" b="1" dirty="0">
                <a:latin typeface="Tw Cen MT" panose="020B0602020104020603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8A1C4-03C3-AA6A-E628-33B5DF878A17}"/>
              </a:ext>
            </a:extLst>
          </p:cNvPr>
          <p:cNvSpPr txBox="1"/>
          <p:nvPr/>
        </p:nvSpPr>
        <p:spPr>
          <a:xfrm>
            <a:off x="5675346" y="4361372"/>
            <a:ext cx="64171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df$age_group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&lt;- ifelse(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	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df$age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20,         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first condition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	         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"Teenager"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         # TRUE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	         ifelse(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	            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 &lt;= 40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      # second condition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"Adult"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        # TRUE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"Senior"</a:t>
            </a:r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# FALSE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)</a:t>
            </a:r>
          </a:p>
          <a:p>
            <a:r>
              <a:rPr lang="en-US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DB2D9-7D97-09D3-FC87-630A9D4ABFBC}"/>
              </a:ext>
            </a:extLst>
          </p:cNvPr>
          <p:cNvSpPr txBox="1"/>
          <p:nvPr/>
        </p:nvSpPr>
        <p:spPr>
          <a:xfrm>
            <a:off x="810404" y="2291505"/>
            <a:ext cx="3874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Singular ifelse condition</a:t>
            </a:r>
            <a:endParaRPr lang="LID4096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7C354B-F902-8FAA-6E59-F7592C21B983}"/>
              </a:ext>
            </a:extLst>
          </p:cNvPr>
          <p:cNvSpPr txBox="1"/>
          <p:nvPr/>
        </p:nvSpPr>
        <p:spPr>
          <a:xfrm>
            <a:off x="6387143" y="396626"/>
            <a:ext cx="4891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Multiple ifelse condition</a:t>
            </a:r>
            <a:endParaRPr lang="LID4096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AFDC54-C149-1E39-8995-0D83E116FC8A}"/>
              </a:ext>
            </a:extLst>
          </p:cNvPr>
          <p:cNvSpPr txBox="1"/>
          <p:nvPr/>
        </p:nvSpPr>
        <p:spPr>
          <a:xfrm>
            <a:off x="3569322" y="2647076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28987D-AA7F-E3C0-FC5F-05C56CE3FB4E}"/>
              </a:ext>
            </a:extLst>
          </p:cNvPr>
          <p:cNvSpPr txBox="1"/>
          <p:nvPr/>
        </p:nvSpPr>
        <p:spPr>
          <a:xfrm>
            <a:off x="10079983" y="689309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DCCF8F-F03E-E654-BD30-901273FA046A}"/>
              </a:ext>
            </a:extLst>
          </p:cNvPr>
          <p:cNvSpPr txBox="1"/>
          <p:nvPr/>
        </p:nvSpPr>
        <p:spPr>
          <a:xfrm>
            <a:off x="605454" y="465302"/>
            <a:ext cx="4539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latin typeface="Skeena" panose="020F0502020204030204" pitchFamily="2" charset="0"/>
                <a:ea typeface="Sans Serif Collection" panose="020B0502040504020204" pitchFamily="34" charset="0"/>
                <a:cs typeface="Rod" panose="020F0502020204030204" pitchFamily="49" charset="-79"/>
              </a:rPr>
              <a:t>When we want to categorize age into age group we use ifelse condition</a:t>
            </a:r>
            <a:endParaRPr lang="LID4096" sz="1200" i="1" u="sng" dirty="0">
              <a:latin typeface="Skeena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53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3" grpId="0"/>
      <p:bldP spid="15" grpId="0"/>
      <p:bldP spid="21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785759-CD58-5A20-2123-30A152151B79}"/>
              </a:ext>
            </a:extLst>
          </p:cNvPr>
          <p:cNvSpPr txBox="1">
            <a:spLocks/>
          </p:cNvSpPr>
          <p:nvPr/>
        </p:nvSpPr>
        <p:spPr>
          <a:xfrm>
            <a:off x="838200" y="6122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5400" dirty="0"/>
              <a:t>👀</a:t>
            </a:r>
            <a:r>
              <a:rPr lang="lo-LA" sz="54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5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Exploratory Data Analysis (EDA)</a:t>
            </a:r>
            <a:endParaRPr lang="LID4096" sz="54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A17B-3E6C-DB3B-8DA2-224E04314A2E}"/>
              </a:ext>
            </a:extLst>
          </p:cNvPr>
          <p:cNvSpPr txBox="1"/>
          <p:nvPr/>
        </p:nvSpPr>
        <p:spPr>
          <a:xfrm>
            <a:off x="1286943" y="2459129"/>
            <a:ext cx="92718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peak Pro" panose="020B0504020101020102" pitchFamily="34" charset="0"/>
                <a:cs typeface="Hinsiew " panose="02000503000000000000" pitchFamily="50" charset="0"/>
              </a:rPr>
              <a:t>👉🏻 is the process of looking at a new dataset to understand its main features, spot mistakes, and find patterns using simple charts and summary numbers before making any decisions.</a:t>
            </a:r>
          </a:p>
          <a:p>
            <a:endParaRPr lang="en-US" sz="2800" b="1" dirty="0">
              <a:latin typeface="Speak Pro" panose="020B0504020101020102" pitchFamily="34" charset="0"/>
              <a:cs typeface="Hinsiew " panose="02000503000000000000" pitchFamily="50" charset="0"/>
            </a:endParaRPr>
          </a:p>
          <a:p>
            <a:r>
              <a:rPr lang="en-US" sz="2800" b="1" dirty="0">
                <a:latin typeface="Speak Pro" panose="020B0504020101020102" pitchFamily="34" charset="0"/>
                <a:cs typeface="Hinsiew " panose="02000503000000000000" pitchFamily="50" charset="0"/>
              </a:rPr>
              <a:t>We had already done some EDA already</a:t>
            </a:r>
          </a:p>
          <a:p>
            <a:r>
              <a:rPr lang="en-US" sz="2800" b="1" dirty="0">
                <a:latin typeface="Speak Pro" panose="020B0504020101020102" pitchFamily="34" charset="0"/>
                <a:cs typeface="Hinsiew " panose="02000503000000000000" pitchFamily="50" charset="0"/>
              </a:rPr>
              <a:t>Ex. str(), length() ...</a:t>
            </a:r>
            <a:endParaRPr lang="lo-LA" sz="2800" b="1" dirty="0">
              <a:latin typeface="Speak Pro" panose="020B0504020101020102" pitchFamily="34" charset="0"/>
              <a:cs typeface="Hinsiew " panose="02000503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13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3D20A8-5131-9E58-18C1-EABAD62DC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492" y="72061"/>
            <a:ext cx="64956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💯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EDA on continuous variables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E007C-8E53-003F-1FF0-119A1584DD81}"/>
              </a:ext>
            </a:extLst>
          </p:cNvPr>
          <p:cNvSpPr/>
          <p:nvPr/>
        </p:nvSpPr>
        <p:spPr>
          <a:xfrm>
            <a:off x="683341" y="1578720"/>
            <a:ext cx="6302083" cy="4884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11ED3-182D-439D-8E43-DA3E6D931ED5}"/>
              </a:ext>
            </a:extLst>
          </p:cNvPr>
          <p:cNvSpPr txBox="1"/>
          <p:nvPr/>
        </p:nvSpPr>
        <p:spPr>
          <a:xfrm>
            <a:off x="683340" y="1722344"/>
            <a:ext cx="63020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summary(df$``column``) </a:t>
            </a:r>
            <a:r>
              <a:rPr lang="en-US" sz="1600" b="1" dirty="0">
                <a:latin typeface="Speak Pro" panose="020B0504020101020102" pitchFamily="34" charset="0"/>
              </a:rPr>
              <a:t>– function to give </a:t>
            </a:r>
            <a:r>
              <a:rPr lang="" sz="1600" dirty="0"/>
              <a:t>brief </a:t>
            </a:r>
            <a:r>
              <a:rPr lang="en-US" sz="1600" b="1" dirty="0">
                <a:latin typeface="Speak Pro" panose="020B0504020101020102" pitchFamily="34" charset="0"/>
              </a:rPr>
              <a:t>summary </a:t>
            </a:r>
            <a:r>
              <a:rPr lang="" sz="1600" dirty="0"/>
              <a:t>overview</a:t>
            </a:r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mean ( ), median( ), range( ), quantile(x, 0.25), quantile (x, 0.75)</a:t>
            </a:r>
          </a:p>
          <a:p>
            <a:endParaRPr lang="en-US" sz="1600" b="1" dirty="0"/>
          </a:p>
          <a:p>
            <a:r>
              <a:rPr lang="en-US" sz="1600" b="1" dirty="0"/>
              <a:t>hist(df$``column``) </a:t>
            </a:r>
            <a:r>
              <a:rPr lang="en-US" sz="1600" b="1" dirty="0">
                <a:latin typeface="Speak Pro" panose="020B0504020101020102" pitchFamily="34" charset="0"/>
              </a:rPr>
              <a:t>– showing distribution of data by histogram plot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var(df$``column``) </a:t>
            </a:r>
            <a:r>
              <a:rPr lang="en-US" sz="1600" b="1" dirty="0">
                <a:latin typeface="Speak Pro" panose="020B0504020101020102" pitchFamily="34" charset="0"/>
              </a:rPr>
              <a:t>- measures how spread out the data values are from the mean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sd (df$``column``) </a:t>
            </a:r>
            <a:r>
              <a:rPr lang="en-US" sz="1600" b="1" dirty="0">
                <a:latin typeface="Speak Pro" panose="020B0504020101020102" pitchFamily="34" charset="0"/>
              </a:rPr>
              <a:t>- function to find standard deviation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boxplot (df$``column``, </a:t>
            </a:r>
            <a:r>
              <a:rPr lang="en-US" sz="1600" b="1" dirty="0" err="1"/>
              <a:t>coef</a:t>
            </a:r>
            <a:r>
              <a:rPr lang="en-US" sz="1600" b="1" dirty="0"/>
              <a:t> = . . . ) </a:t>
            </a:r>
            <a:r>
              <a:rPr lang="en-US" sz="1600" b="1" dirty="0">
                <a:latin typeface="Speak Pro" panose="020B0504020101020102" pitchFamily="34" charset="0"/>
              </a:rPr>
              <a:t>- function to show the boxplot distribution of data with interquartile range, default </a:t>
            </a:r>
            <a:r>
              <a:rPr lang="en-US" sz="1600" b="1" dirty="0" err="1">
                <a:latin typeface="Speak Pro" panose="020B0504020101020102" pitchFamily="34" charset="0"/>
              </a:rPr>
              <a:t>coef</a:t>
            </a:r>
            <a:r>
              <a:rPr lang="en-US" sz="1600" b="1" dirty="0">
                <a:latin typeface="Speak Pro" panose="020B0504020101020102" pitchFamily="34" charset="0"/>
              </a:rPr>
              <a:t> is x1.5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0F54F-B1AC-150B-0803-B06A3D50E248}"/>
              </a:ext>
            </a:extLst>
          </p:cNvPr>
          <p:cNvSpPr txBox="1"/>
          <p:nvPr/>
        </p:nvSpPr>
        <p:spPr>
          <a:xfrm>
            <a:off x="231055" y="1367570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13" name="Picture 12" descr="What Is Variance in Statistics? Definition, Formula, and Example">
            <a:extLst>
              <a:ext uri="{FF2B5EF4-FFF2-40B4-BE49-F238E27FC236}">
                <a16:creationId xmlns:a16="http://schemas.microsoft.com/office/drawing/2014/main" id="{E0991DE4-0F6B-3473-B9EC-4A88B2CF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481" y="1062788"/>
            <a:ext cx="2984212" cy="1989475"/>
          </a:xfrm>
          <a:prstGeom prst="rect">
            <a:avLst/>
          </a:prstGeom>
        </p:spPr>
      </p:pic>
      <p:pic>
        <p:nvPicPr>
          <p:cNvPr id="15" name="Picture 14" descr="Variance and standard deviation explained - Part 2 | by PyShihab | Medium">
            <a:extLst>
              <a:ext uri="{FF2B5EF4-FFF2-40B4-BE49-F238E27FC236}">
                <a16:creationId xmlns:a16="http://schemas.microsoft.com/office/drawing/2014/main" id="{C3099747-4F11-EE78-3616-A974972F7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750" y="790311"/>
            <a:ext cx="1684564" cy="2526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62C58C-9689-AB5A-1401-2D1A65828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65" y="3924300"/>
            <a:ext cx="5018849" cy="244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46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F421C-527A-4D83-6204-0202E42AF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2879609"/>
            <a:ext cx="11850754" cy="352474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1C2B9E1-D265-7596-D93C-6C963CFE3130}"/>
              </a:ext>
            </a:extLst>
          </p:cNvPr>
          <p:cNvSpPr txBox="1">
            <a:spLocks/>
          </p:cNvSpPr>
          <p:nvPr/>
        </p:nvSpPr>
        <p:spPr>
          <a:xfrm>
            <a:off x="562525" y="780221"/>
            <a:ext cx="10129154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3600" dirty="0"/>
              <a:t>💁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Empirical rule – 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 rule for data that follows an approximately normal/</a:t>
            </a:r>
            <a:r>
              <a:rPr lang="en-US" sz="3600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bell-shaped distribution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.</a:t>
            </a:r>
            <a:endParaRPr lang="LID4096" sz="3600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06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C35CDC-4CB2-4AC9-8B8B-88B8FE3B8BFE}"/>
              </a:ext>
            </a:extLst>
          </p:cNvPr>
          <p:cNvSpPr txBox="1"/>
          <p:nvPr/>
        </p:nvSpPr>
        <p:spPr>
          <a:xfrm>
            <a:off x="911484" y="2644170"/>
            <a:ext cx="103690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Question: 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What if we have </a:t>
            </a:r>
            <a:r>
              <a:rPr lang="en-US" sz="32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10 continuous variable 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and we want to do the same thing will we write the same code all over and over again?</a:t>
            </a:r>
            <a:endParaRPr lang="LID4096" sz="1050" dirty="0"/>
          </a:p>
        </p:txBody>
      </p:sp>
    </p:spTree>
    <p:extLst>
      <p:ext uri="{BB962C8B-B14F-4D97-AF65-F5344CB8AC3E}">
        <p14:creationId xmlns:p14="http://schemas.microsoft.com/office/powerpoint/2010/main" val="187539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40830-059C-A815-A2DE-D7CD60F0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197B-91FC-2267-0FC0-64D8BCEA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441"/>
            <a:ext cx="10515600" cy="1325563"/>
          </a:xfrm>
        </p:spPr>
        <p:txBody>
          <a:bodyPr>
            <a:normAutofit/>
          </a:bodyPr>
          <a:lstStyle/>
          <a:p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💢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ໃນການຂຽນໂປແກມທຸກໆພາສາ, ຈະມີ 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Core Building Block</a:t>
            </a:r>
            <a:r>
              <a:rPr lang="lo-LA" sz="4000" dirty="0">
                <a:latin typeface="Hinsiew " panose="02000503000000000000" pitchFamily="50" charset="0"/>
                <a:ea typeface="Sans Serif Collection" panose="020B0502040504020204" pitchFamily="34" charset="0"/>
                <a:cs typeface="Hinsiew " panose="02000503000000000000" pitchFamily="50" charset="0"/>
              </a:rPr>
              <a:t> </a:t>
            </a:r>
            <a:r>
              <a:rPr lang="lo-LA" sz="4000" dirty="0">
                <a:latin typeface="Noto Sans Lao" panose="020B0502040504020204" pitchFamily="34" charset="0"/>
                <a:ea typeface="Sans Serif Collection" panose="020B0502040504020204" pitchFamily="34" charset="0"/>
                <a:cs typeface="Noto Sans Lao" panose="020B0502040504020204" pitchFamily="34" charset="0"/>
              </a:rPr>
              <a:t>ຫຼັກໆ</a:t>
            </a:r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4000" dirty="0">
                <a:latin typeface="Speak Pro" panose="020B0504020101020102" pitchFamily="34" charset="0"/>
                <a:cs typeface="Hinsiew " panose="02000503000000000000" pitchFamily="50" charset="0"/>
              </a:rPr>
              <a:t>5 </a:t>
            </a:r>
            <a:r>
              <a:rPr lang="lo-LA" sz="4000" dirty="0">
                <a:latin typeface="Noto Sans Lao" panose="020B0502040504020204" pitchFamily="34" charset="0"/>
                <a:cs typeface="Noto Sans Lao" panose="020B0502040504020204" pitchFamily="34" charset="0"/>
              </a:rPr>
              <a:t>ຢ່າງ:</a:t>
            </a:r>
            <a:endParaRPr lang="LID4096" sz="4000" dirty="0">
              <a:latin typeface="Noto Sans Lao" panose="020B0502040504020204" pitchFamily="34" charset="0"/>
              <a:cs typeface="Noto Sans Lao" panose="020B0502040504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116519-D340-45EC-B87D-ADEA84D79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588" y="1833177"/>
            <a:ext cx="5024823" cy="502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21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 Functions - Learn By Example">
            <a:extLst>
              <a:ext uri="{FF2B5EF4-FFF2-40B4-BE49-F238E27FC236}">
                <a16:creationId xmlns:a16="http://schemas.microsoft.com/office/drawing/2014/main" id="{020062EF-6E0E-66D8-30E7-57CD5282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981" y="2117214"/>
            <a:ext cx="6560037" cy="336048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1AF441-9F4E-6749-5FE1-F42DA36D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24854"/>
            <a:ext cx="10515600" cy="1325563"/>
          </a:xfrm>
        </p:spPr>
        <p:txBody>
          <a:bodyPr/>
          <a:lstStyle/>
          <a:p>
            <a:r>
              <a:rPr lang="" dirty="0"/>
              <a:t>⚙️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Avoid repetitive coding using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Function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40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D3F64-E7CA-F4AF-6CCD-BB4DF763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2D71-2E14-987A-614D-3A614F44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774"/>
            <a:ext cx="10515600" cy="1325563"/>
          </a:xfrm>
        </p:spPr>
        <p:txBody>
          <a:bodyPr/>
          <a:lstStyle/>
          <a:p>
            <a:r>
              <a:rPr lang="" dirty="0"/>
              <a:t>⚙️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Avoid repetitive coding using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Function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9ABD8-9773-801E-924D-EF852E885E37}"/>
              </a:ext>
            </a:extLst>
          </p:cNvPr>
          <p:cNvSpPr txBox="1"/>
          <p:nvPr/>
        </p:nvSpPr>
        <p:spPr>
          <a:xfrm>
            <a:off x="5197150" y="1822530"/>
            <a:ext cx="55983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ຖ້າສົມມຸດວ່າເຮົາຕ້ອງຄິດໄລ່ຄ່າພວກນີ້ກັບ</a:t>
            </a:r>
            <a:r>
              <a:rPr lang="en-US" sz="2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number set </a:t>
            </a:r>
            <a:r>
              <a:rPr lang="lo-LA" sz="2000" dirty="0">
                <a:latin typeface="Noto Sans Lao" panose="020B0502040504020204" pitchFamily="34" charset="0"/>
                <a:cs typeface="Noto Sans Lao" panose="020B0502040504020204" pitchFamily="34" charset="0"/>
              </a:rPr>
              <a:t>ອື່ນໆ ເຮົາຈະຂຽນແບບເກົ່າຫຼາຍໆເທື່ອບໍ່ </a:t>
            </a:r>
            <a:r>
              <a:rPr lang="en-US" sz="2000" b="1" dirty="0">
                <a:latin typeface="Speak Pro" panose="020B0504020101020102" pitchFamily="34" charset="0"/>
                <a:cs typeface="Hinsiew " panose="02000503000000000000" pitchFamily="50" charset="0"/>
              </a:rPr>
              <a:t>?</a:t>
            </a:r>
            <a:r>
              <a:rPr lang="lo-LA" sz="2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endParaRPr lang="LID4096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B9A76F-A10D-6E6B-9722-68566CF402BE}"/>
              </a:ext>
            </a:extLst>
          </p:cNvPr>
          <p:cNvSpPr/>
          <p:nvPr/>
        </p:nvSpPr>
        <p:spPr>
          <a:xfrm>
            <a:off x="5013566" y="1690688"/>
            <a:ext cx="5969018" cy="1032847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BC516-09E4-DFDA-8E8B-A1DF1F85845B}"/>
              </a:ext>
            </a:extLst>
          </p:cNvPr>
          <p:cNvSpPr txBox="1"/>
          <p:nvPr/>
        </p:nvSpPr>
        <p:spPr>
          <a:xfrm>
            <a:off x="5117272" y="321355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Gill Sans MT" panose="020B0502020104020203" pitchFamily="34" charset="0"/>
              </a:rPr>
              <a:t>We can turn it into function !</a:t>
            </a:r>
            <a:endParaRPr lang="LID409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73FD13-7C8C-B733-171A-50540168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0" y="1690688"/>
            <a:ext cx="3172425" cy="33439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30E3C5-4609-7AEA-9D6C-9E23EEB5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44" y="3739949"/>
            <a:ext cx="4979678" cy="28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4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9410B8-19E9-3383-8EFA-C54D5D752DA2}"/>
              </a:ext>
            </a:extLst>
          </p:cNvPr>
          <p:cNvSpPr txBox="1">
            <a:spLocks/>
          </p:cNvSpPr>
          <p:nvPr/>
        </p:nvSpPr>
        <p:spPr>
          <a:xfrm>
            <a:off x="302874" y="186283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Assignment week 4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8C156-1BFB-8CC9-292F-010657DCDF00}"/>
              </a:ext>
            </a:extLst>
          </p:cNvPr>
          <p:cNvSpPr txBox="1"/>
          <p:nvPr/>
        </p:nvSpPr>
        <p:spPr>
          <a:xfrm>
            <a:off x="683342" y="1471933"/>
            <a:ext cx="98470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Following the 4</a:t>
            </a:r>
            <a:r>
              <a:rPr lang="en-US" b="1" baseline="30000" dirty="0">
                <a:latin typeface="Speak Pro" panose="020B0504020101020102" pitchFamily="34" charset="0"/>
              </a:rPr>
              <a:t>th</a:t>
            </a:r>
            <a:r>
              <a:rPr lang="en-US" b="1" dirty="0">
                <a:latin typeface="Speak Pro" panose="020B0504020101020102" pitchFamily="34" charset="0"/>
              </a:rPr>
              <a:t> question from week 3 assignment after creating a column to find out how many days does it take for them to have the first symptoms of dengue until visit date?</a:t>
            </a:r>
          </a:p>
          <a:p>
            <a:pPr marL="342900" indent="-342900">
              <a:buAutoNum type="arabicPeriod"/>
            </a:pPr>
            <a:endParaRPr lang="en-US" b="1" dirty="0">
              <a:latin typeface="Speak Pro" panose="020B0504020101020102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We want to see the histogram and boxplot visualization of the time length after first symptom until the visit date</a:t>
            </a:r>
          </a:p>
          <a:p>
            <a:pPr marL="742950" lvl="1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We want to know what is its average, median, standard deviation, minimum, maximum</a:t>
            </a:r>
          </a:p>
          <a:p>
            <a:pPr marL="742950" lvl="1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Is the data normally distributed (bell shaped curve) or skewed? </a:t>
            </a:r>
          </a:p>
          <a:p>
            <a:pPr marL="742950" lvl="1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Then create a function to find out the same thing with another continuous variable “age”, “temperature”</a:t>
            </a:r>
          </a:p>
          <a:p>
            <a:pPr lvl="1"/>
            <a:endParaRPr lang="en-US" b="1" dirty="0">
              <a:latin typeface="Speak Pro" panose="020B0504020101020102" pitchFamily="34" charset="0"/>
            </a:endParaRPr>
          </a:p>
          <a:p>
            <a:pPr marL="342900" indent="-342900">
              <a:buAutoNum type="arabicPeriod"/>
            </a:pPr>
            <a:endParaRPr lang="en-US" b="1" dirty="0">
              <a:latin typeface="Speak Pro" panose="020B0504020101020102" pitchFamily="34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Speak Pro" panose="020B0504020101020102" pitchFamily="34" charset="0"/>
              </a:rPr>
              <a:t>Categorize if the time after the admission to hospital, if it is less or equal than two days -&gt; it is “</a:t>
            </a:r>
            <a:r>
              <a:rPr lang="en-US" b="1" dirty="0">
                <a:highlight>
                  <a:srgbClr val="FFFF00"/>
                </a:highlight>
                <a:latin typeface="Speak Pro" panose="020B0504020101020102" pitchFamily="34" charset="0"/>
              </a:rPr>
              <a:t>appropriate</a:t>
            </a:r>
            <a:r>
              <a:rPr lang="en-US" b="1" dirty="0">
                <a:latin typeface="Speak Pro" panose="020B0504020101020102" pitchFamily="34" charset="0"/>
              </a:rPr>
              <a:t>”. If it is more than 2 days -&gt; it is “</a:t>
            </a:r>
            <a:r>
              <a:rPr lang="en-US" b="1" dirty="0">
                <a:highlight>
                  <a:srgbClr val="FFFF00"/>
                </a:highlight>
                <a:latin typeface="Speak Pro" panose="020B0504020101020102" pitchFamily="34" charset="0"/>
              </a:rPr>
              <a:t>late</a:t>
            </a:r>
            <a:r>
              <a:rPr lang="en-US" b="1" dirty="0">
                <a:latin typeface="Speak Pro" panose="020B0504020101020102" pitchFamily="34" charset="0"/>
              </a:rPr>
              <a:t>”. </a:t>
            </a:r>
          </a:p>
          <a:p>
            <a:pPr lvl="1"/>
            <a:r>
              <a:rPr lang="en-US" b="1" dirty="0">
                <a:latin typeface="Speak Pro" panose="020B0504020101020102" pitchFamily="34" charset="0"/>
              </a:rPr>
              <a:t>If it is equal or more than 3 day, it is “</a:t>
            </a:r>
            <a:r>
              <a:rPr lang="en-US" b="1" dirty="0">
                <a:highlight>
                  <a:srgbClr val="FFFF00"/>
                </a:highlight>
                <a:latin typeface="Speak Pro" panose="020B0504020101020102" pitchFamily="34" charset="0"/>
              </a:rPr>
              <a:t>extreme late</a:t>
            </a:r>
            <a:r>
              <a:rPr lang="en-US" b="1" dirty="0">
                <a:latin typeface="Speak Pro" panose="020B0504020101020102" pitchFamily="34" charset="0"/>
              </a:rPr>
              <a:t>” and assign in any column name that you like</a:t>
            </a:r>
          </a:p>
        </p:txBody>
      </p:sp>
    </p:spTree>
    <p:extLst>
      <p:ext uri="{BB962C8B-B14F-4D97-AF65-F5344CB8AC3E}">
        <p14:creationId xmlns:p14="http://schemas.microsoft.com/office/powerpoint/2010/main" val="332712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D86B-E0C6-C1D5-47F4-31967785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8DDD10-CBB2-ED79-E512-8DB5D1200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492" y="72061"/>
            <a:ext cx="64956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EDA on categorical variables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5523A9-4324-54EB-DB02-665E843D335F}"/>
              </a:ext>
            </a:extLst>
          </p:cNvPr>
          <p:cNvSpPr/>
          <p:nvPr/>
        </p:nvSpPr>
        <p:spPr>
          <a:xfrm>
            <a:off x="683341" y="1578720"/>
            <a:ext cx="6302083" cy="4884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8D2E5-57F8-F4C0-206D-4A8C8B8D9AE7}"/>
              </a:ext>
            </a:extLst>
          </p:cNvPr>
          <p:cNvSpPr txBox="1"/>
          <p:nvPr/>
        </p:nvSpPr>
        <p:spPr>
          <a:xfrm>
            <a:off x="789902" y="1952345"/>
            <a:ext cx="607202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table (x, y)</a:t>
            </a:r>
            <a:r>
              <a:rPr lang="en-US" sz="1600" b="1" dirty="0">
                <a:latin typeface="Speak Pro" panose="020B0504020101020102" pitchFamily="34" charset="0"/>
              </a:rPr>
              <a:t>– create cross tabulation of two categorical variables</a:t>
            </a:r>
          </a:p>
          <a:p>
            <a:endParaRPr lang="en-US" sz="1600" b="1" dirty="0"/>
          </a:p>
          <a:p>
            <a:r>
              <a:rPr lang="en-US" sz="1600" b="1" dirty="0" err="1"/>
              <a:t>addmargins</a:t>
            </a:r>
            <a:r>
              <a:rPr lang="en-US" sz="1600" b="1" dirty="0"/>
              <a:t> (</a:t>
            </a:r>
            <a:r>
              <a:rPr lang="en-US" sz="1600" dirty="0"/>
              <a:t>table (x, y)</a:t>
            </a:r>
            <a:r>
              <a:rPr lang="en-US" sz="1600" b="1" dirty="0"/>
              <a:t>) </a:t>
            </a:r>
            <a:r>
              <a:rPr lang="en-US" sz="1600" b="1" dirty="0">
                <a:latin typeface="Speak Pro" panose="020B0504020101020102" pitchFamily="34" charset="0"/>
              </a:rPr>
              <a:t>– add rows and column totals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prop.table</a:t>
            </a:r>
            <a:r>
              <a:rPr lang="en-US" sz="1600" b="1" dirty="0"/>
              <a:t> ( …., margin = 1) </a:t>
            </a:r>
            <a:r>
              <a:rPr lang="en-US" sz="1600" b="1" dirty="0">
                <a:latin typeface="Speak Pro" panose="020B0504020101020102" pitchFamily="34" charset="0"/>
              </a:rPr>
              <a:t>– create row proportions / margin = 2 – column proportion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/>
              <a:t>round (…., 1) </a:t>
            </a:r>
            <a:r>
              <a:rPr lang="en-US" sz="1600" b="1" dirty="0">
                <a:latin typeface="Speak Pro" panose="020B0504020101020102" pitchFamily="34" charset="0"/>
              </a:rPr>
              <a:t>– round percentages to 1 decimal place, 2, 3, 4 ...</a:t>
            </a:r>
          </a:p>
          <a:p>
            <a:endParaRPr lang="en-US" sz="1600" b="1" dirty="0">
              <a:latin typeface="Speak Pro" panose="020B0504020101020102" pitchFamily="34" charset="0"/>
            </a:endParaRPr>
          </a:p>
          <a:p>
            <a:r>
              <a:rPr lang="en-US" sz="1600" b="1" dirty="0" err="1"/>
              <a:t>barplot</a:t>
            </a:r>
            <a:r>
              <a:rPr lang="en-US" sz="1600" b="1" dirty="0"/>
              <a:t> ( </a:t>
            </a:r>
          </a:p>
          <a:p>
            <a:r>
              <a:rPr lang="en-US" sz="1600" b="1" dirty="0"/>
              <a:t>          table(</a:t>
            </a:r>
            <a:r>
              <a:rPr lang="en-US" sz="1600" b="1" dirty="0" err="1"/>
              <a:t>df$sex</a:t>
            </a:r>
            <a:r>
              <a:rPr lang="en-US" sz="1600" b="1" dirty="0"/>
              <a:t>, </a:t>
            </a:r>
            <a:r>
              <a:rPr lang="en-US" sz="1600" b="1" dirty="0" err="1"/>
              <a:t>df$age_group</a:t>
            </a:r>
            <a:r>
              <a:rPr lang="en-US" sz="1600" b="1" dirty="0"/>
              <a:t>),</a:t>
            </a:r>
          </a:p>
          <a:p>
            <a:r>
              <a:rPr lang="en-US" sz="1600" b="1" dirty="0"/>
              <a:t>          beside = TRUE, </a:t>
            </a:r>
          </a:p>
          <a:p>
            <a:r>
              <a:rPr lang="en-US" sz="1600" b="1" dirty="0"/>
              <a:t>          legend = TRUE,</a:t>
            </a:r>
          </a:p>
          <a:p>
            <a:r>
              <a:rPr lang="en-US" sz="1600" b="1" dirty="0"/>
              <a:t>          </a:t>
            </a:r>
            <a:r>
              <a:rPr lang="en-US" sz="1600" b="1" dirty="0" err="1"/>
              <a:t>xlab</a:t>
            </a:r>
            <a:r>
              <a:rPr lang="en-US" sz="1600" b="1" dirty="0"/>
              <a:t> = “…”,</a:t>
            </a:r>
          </a:p>
          <a:p>
            <a:r>
              <a:rPr lang="en-US" sz="1600" b="1" dirty="0"/>
              <a:t>          </a:t>
            </a:r>
            <a:r>
              <a:rPr lang="en-US" sz="1600" b="1" dirty="0" err="1"/>
              <a:t>ylab</a:t>
            </a:r>
            <a:r>
              <a:rPr lang="en-US" sz="1600" b="1" dirty="0"/>
              <a:t> = “…”,</a:t>
            </a:r>
          </a:p>
          <a:p>
            <a:r>
              <a:rPr lang="en-US" sz="1600" b="1" dirty="0"/>
              <a:t>          main = “…” 	# add title</a:t>
            </a:r>
          </a:p>
          <a:p>
            <a:r>
              <a:rPr lang="en-US" sz="1600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5A8AF-2195-BF7A-D3D6-20F91313A772}"/>
              </a:ext>
            </a:extLst>
          </p:cNvPr>
          <p:cNvSpPr txBox="1"/>
          <p:nvPr/>
        </p:nvSpPr>
        <p:spPr>
          <a:xfrm>
            <a:off x="231055" y="1367570"/>
            <a:ext cx="452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CB732-3A27-5249-C801-D7956BAE4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216" y="4184388"/>
            <a:ext cx="4799354" cy="2518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2B9364-8A6B-DEB5-211B-183E74B38386}"/>
              </a:ext>
            </a:extLst>
          </p:cNvPr>
          <p:cNvSpPr txBox="1"/>
          <p:nvPr/>
        </p:nvSpPr>
        <p:spPr>
          <a:xfrm>
            <a:off x="8117333" y="4021134"/>
            <a:ext cx="3083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beside = TRUE,    legend = TRUE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49E63-E86D-C336-543A-788AC1695D37}"/>
              </a:ext>
            </a:extLst>
          </p:cNvPr>
          <p:cNvSpPr txBox="1"/>
          <p:nvPr/>
        </p:nvSpPr>
        <p:spPr>
          <a:xfrm>
            <a:off x="7959878" y="734842"/>
            <a:ext cx="3257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beside = FALSE,   legend = FALSE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31759-D267-0195-F189-EB319D0A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83" y="1076709"/>
            <a:ext cx="4799353" cy="25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17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8EC9-76C1-B800-B9DE-43FD8277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093E2CE-5A4A-8738-5A63-DC279B3F7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258"/>
            <a:ext cx="10515600" cy="1325563"/>
          </a:xfrm>
        </p:spPr>
        <p:txBody>
          <a:bodyPr/>
          <a:lstStyle/>
          <a:p>
            <a:r>
              <a:rPr lang="" dirty="0"/>
              <a:t>🔥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Dplyr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: The most used and powerful library in R for data transformation 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5" name="Picture 4" descr="What is dplyr? R Data Manipulation Package | Domino.ai">
            <a:extLst>
              <a:ext uri="{FF2B5EF4-FFF2-40B4-BE49-F238E27FC236}">
                <a16:creationId xmlns:a16="http://schemas.microsoft.com/office/drawing/2014/main" id="{2BAE15DB-79A5-EBF8-7EFB-9A99104F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3393"/>
            <a:ext cx="4557088" cy="2254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BFD18-5ACD-EF5A-9E01-AFFF792A506B}"/>
              </a:ext>
            </a:extLst>
          </p:cNvPr>
          <p:cNvSpPr txBox="1"/>
          <p:nvPr/>
        </p:nvSpPr>
        <p:spPr>
          <a:xfrm>
            <a:off x="838200" y="5344212"/>
            <a:ext cx="2858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https://dplyr.tidyverse.org/</a:t>
            </a:r>
          </a:p>
        </p:txBody>
      </p:sp>
      <p:pic>
        <p:nvPicPr>
          <p:cNvPr id="8" name="Picture 7" descr="Medium">
            <a:extLst>
              <a:ext uri="{FF2B5EF4-FFF2-40B4-BE49-F238E27FC236}">
                <a16:creationId xmlns:a16="http://schemas.microsoft.com/office/drawing/2014/main" id="{ACA6DD09-53E2-91AE-4A14-0F5CE3689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2780"/>
            <a:ext cx="5901732" cy="455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62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202D70-2FAB-7374-569B-0FEFA8D0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487306"/>
            <a:ext cx="6979920" cy="38833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D77A45-79C0-D25E-442D-2C3D7CBC3BBE}"/>
              </a:ext>
            </a:extLst>
          </p:cNvPr>
          <p:cNvSpPr/>
          <p:nvPr/>
        </p:nvSpPr>
        <p:spPr>
          <a:xfrm>
            <a:off x="8929396" y="4898571"/>
            <a:ext cx="737118" cy="550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8867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2FF804-C8E4-AC73-D6C2-DA031337094A}"/>
              </a:ext>
            </a:extLst>
          </p:cNvPr>
          <p:cNvSpPr/>
          <p:nvPr/>
        </p:nvSpPr>
        <p:spPr>
          <a:xfrm>
            <a:off x="2072510" y="4336641"/>
            <a:ext cx="3718690" cy="12007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9C790-2885-FC66-A8D7-3870F08F1972}"/>
              </a:ext>
            </a:extLst>
          </p:cNvPr>
          <p:cNvSpPr txBox="1"/>
          <p:nvPr/>
        </p:nvSpPr>
        <p:spPr>
          <a:xfrm>
            <a:off x="1686592" y="4050970"/>
            <a:ext cx="741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C798A-B7A2-ED4A-6993-EDA536A2AD60}"/>
              </a:ext>
            </a:extLst>
          </p:cNvPr>
          <p:cNvSpPr txBox="1"/>
          <p:nvPr/>
        </p:nvSpPr>
        <p:spPr>
          <a:xfrm>
            <a:off x="1716910" y="1305431"/>
            <a:ext cx="89410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In </a:t>
            </a:r>
            <a:r>
              <a:rPr lang="en-US" sz="32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dplyr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library, we will use the specific syntax called “</a:t>
            </a:r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pipe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” operator, “</a:t>
            </a:r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%&gt;%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”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1489E-C927-9CED-A2F5-0F4995CFC49C}"/>
              </a:ext>
            </a:extLst>
          </p:cNvPr>
          <p:cNvSpPr txBox="1"/>
          <p:nvPr/>
        </p:nvSpPr>
        <p:spPr>
          <a:xfrm>
            <a:off x="2163950" y="44753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install.packages</a:t>
            </a:r>
            <a:r>
              <a:rPr lang="en-US" b="1" dirty="0"/>
              <a:t> ( “</a:t>
            </a:r>
            <a:r>
              <a:rPr lang="en-US" b="1" dirty="0" err="1"/>
              <a:t>dplyr</a:t>
            </a:r>
            <a:r>
              <a:rPr lang="en-US" b="1" dirty="0"/>
              <a:t>”)</a:t>
            </a:r>
          </a:p>
          <a:p>
            <a:endParaRPr lang="en-US" b="1" dirty="0"/>
          </a:p>
          <a:p>
            <a:r>
              <a:rPr lang="en-US" b="1" dirty="0"/>
              <a:t>library (</a:t>
            </a:r>
            <a:r>
              <a:rPr lang="en-US" b="1" dirty="0" err="1"/>
              <a:t>dplyr</a:t>
            </a:r>
            <a:r>
              <a:rPr lang="en-US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596FF-D953-75F2-27A8-C59B2FE5637D}"/>
              </a:ext>
            </a:extLst>
          </p:cNvPr>
          <p:cNvSpPr txBox="1"/>
          <p:nvPr/>
        </p:nvSpPr>
        <p:spPr>
          <a:xfrm>
            <a:off x="1716910" y="2737991"/>
            <a:ext cx="89410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But first let’s install a package and call the library to our environment to use them</a:t>
            </a:r>
          </a:p>
        </p:txBody>
      </p:sp>
    </p:spTree>
    <p:extLst>
      <p:ext uri="{BB962C8B-B14F-4D97-AF65-F5344CB8AC3E}">
        <p14:creationId xmlns:p14="http://schemas.microsoft.com/office/powerpoint/2010/main" val="3611299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AAE6FC-6CC5-9CA6-F628-F77A875C1C16}"/>
              </a:ext>
            </a:extLst>
          </p:cNvPr>
          <p:cNvSpPr txBox="1">
            <a:spLocks/>
          </p:cNvSpPr>
          <p:nvPr/>
        </p:nvSpPr>
        <p:spPr>
          <a:xfrm>
            <a:off x="302874" y="115225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🦖 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most important function from </a:t>
            </a:r>
            <a:r>
              <a:rPr lang="en-US" sz="24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dplyr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!</a:t>
            </a:r>
            <a:endParaRPr lang="LID4096" sz="24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A26036-1737-FFC0-7611-ED0B4F1314BE}"/>
              </a:ext>
            </a:extLst>
          </p:cNvPr>
          <p:cNvSpPr/>
          <p:nvPr/>
        </p:nvSpPr>
        <p:spPr>
          <a:xfrm>
            <a:off x="1055369" y="1214062"/>
            <a:ext cx="7905751" cy="192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D8E93-AAA0-BDA0-22A4-F1E97A2FB0E4}"/>
              </a:ext>
            </a:extLst>
          </p:cNvPr>
          <p:cNvSpPr txBox="1"/>
          <p:nvPr/>
        </p:nvSpPr>
        <p:spPr>
          <a:xfrm>
            <a:off x="632430" y="3429001"/>
            <a:ext cx="5223511" cy="301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dplyr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 %&gt;% 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select 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case_id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sex, occupation) %&gt;%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slice (c(1:30, 35:50))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filter (sex = “Male”,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previous_dengue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“No”)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mutate (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age_group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case_when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age &gt;= 60 ~ “very old”,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age &gt;= 40 ~ “old”,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age &gt;= 20 ~ “little old”,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TRUE ~ “we are GENZ”)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arrange (desc(age))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321B9-C461-FA1A-1958-B3A2391624F2}"/>
              </a:ext>
            </a:extLst>
          </p:cNvPr>
          <p:cNvSpPr txBox="1"/>
          <p:nvPr/>
        </p:nvSpPr>
        <p:spPr>
          <a:xfrm>
            <a:off x="1190911" y="1320801"/>
            <a:ext cx="750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select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select columns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slice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select rows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() –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to filter data with conditions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mutate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create new column or modifying existing column</a:t>
            </a:r>
          </a:p>
          <a:p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case_when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very similar to ifelse()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arrange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 default “smallest to largest”, desc() to do the opposite</a:t>
            </a:r>
          </a:p>
          <a:p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group_by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categorize the value in the column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summarize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summarize information across rows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rename () – </a:t>
            </a:r>
            <a:r>
              <a:rPr lang="en-U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change column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CE8FE-E227-B8FF-076A-7BC82F8DEF0B}"/>
              </a:ext>
            </a:extLst>
          </p:cNvPr>
          <p:cNvSpPr txBox="1"/>
          <p:nvPr/>
        </p:nvSpPr>
        <p:spPr>
          <a:xfrm>
            <a:off x="6261070" y="3429000"/>
            <a:ext cx="5758210" cy="2188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dplyr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mutate (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sex = factor(sex, levels = “Male”, “Female”))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group_by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(sex,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age_group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%&gt;%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summarize (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temp_mean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mean (temperature)) %&gt;%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rename(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temp_mean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mean_temp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42C5E-255C-D8CF-258A-E51DFAA388AD}"/>
              </a:ext>
            </a:extLst>
          </p:cNvPr>
          <p:cNvSpPr txBox="1"/>
          <p:nvPr/>
        </p:nvSpPr>
        <p:spPr>
          <a:xfrm>
            <a:off x="632430" y="921674"/>
            <a:ext cx="741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410429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4697F1-2CD0-FC20-E5A8-C28B1D0B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02970"/>
            <a:ext cx="10515600" cy="1038886"/>
          </a:xfrm>
        </p:spPr>
        <p:txBody>
          <a:bodyPr>
            <a:normAutofit/>
          </a:bodyPr>
          <a:lstStyle/>
          <a:p>
            <a:r>
              <a:rPr lang="" sz="3200" dirty="0"/>
              <a:t>✨</a:t>
            </a:r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Joining two datasets:</a:t>
            </a:r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different types of join</a:t>
            </a:r>
            <a:endParaRPr lang="LID4096" sz="32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6" name="Picture 5" descr="Join Dataframes in R: Left/Right/Inner/Full Joins – QUANTIFYING HEALTH">
            <a:extLst>
              <a:ext uri="{FF2B5EF4-FFF2-40B4-BE49-F238E27FC236}">
                <a16:creationId xmlns:a16="http://schemas.microsoft.com/office/drawing/2014/main" id="{42FD4CF5-0E22-57C4-824C-AC438494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6" y="1141856"/>
            <a:ext cx="5604062" cy="5716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811138-7AAD-F7CC-3996-7510ABCE0044}"/>
              </a:ext>
            </a:extLst>
          </p:cNvPr>
          <p:cNvSpPr/>
          <p:nvPr/>
        </p:nvSpPr>
        <p:spPr>
          <a:xfrm>
            <a:off x="6637344" y="2212438"/>
            <a:ext cx="4885962" cy="14824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0A9ED-1CE9-BE39-FB69-BA14CE71CFAE}"/>
              </a:ext>
            </a:extLst>
          </p:cNvPr>
          <p:cNvSpPr txBox="1"/>
          <p:nvPr/>
        </p:nvSpPr>
        <p:spPr>
          <a:xfrm>
            <a:off x="6770428" y="2365830"/>
            <a:ext cx="46197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 (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dplyr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new_df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&lt;- dataset1 %&gt;% </a:t>
            </a:r>
            <a:r>
              <a:rPr lang="en-US" sz="1200" b="1" dirty="0" err="1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left_join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dataset2, 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 =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c(column_df1 = column_df2)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EAECC-0A05-193A-18C3-0561D8F891BB}"/>
              </a:ext>
            </a:extLst>
          </p:cNvPr>
          <p:cNvSpPr txBox="1"/>
          <p:nvPr/>
        </p:nvSpPr>
        <p:spPr>
          <a:xfrm>
            <a:off x="6214404" y="1920050"/>
            <a:ext cx="699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962211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558004-9D28-AAAF-5EDC-AE12FC467892}"/>
              </a:ext>
            </a:extLst>
          </p:cNvPr>
          <p:cNvSpPr txBox="1"/>
          <p:nvPr/>
        </p:nvSpPr>
        <p:spPr>
          <a:xfrm>
            <a:off x="613487" y="357063"/>
            <a:ext cx="7354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Scenario 1: descriptive on long-format data</a:t>
            </a:r>
            <a:endParaRPr lang="LID4096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F0BC0-1D5D-CD95-A4C2-52A23FD5D865}"/>
              </a:ext>
            </a:extLst>
          </p:cNvPr>
          <p:cNvSpPr txBox="1"/>
          <p:nvPr/>
        </p:nvSpPr>
        <p:spPr>
          <a:xfrm>
            <a:off x="4954556" y="1543672"/>
            <a:ext cx="57383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we want to count how many males and females in dataset then calculate the avg temperature of the two groups: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241A9-79F7-CC02-D6B2-656C811C3138}"/>
              </a:ext>
            </a:extLst>
          </p:cNvPr>
          <p:cNvSpPr txBox="1"/>
          <p:nvPr/>
        </p:nvSpPr>
        <p:spPr>
          <a:xfrm>
            <a:off x="4954556" y="2921168"/>
            <a:ext cx="36248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 %&gt;% 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group_by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(sex) %&gt;%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summarise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temp_avg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mean(temperature),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count = n())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0265E-8069-B62A-28E7-81EFD528A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539" y="2921168"/>
            <a:ext cx="2984163" cy="1209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39E71E-2BB0-1D02-CA40-DAE36F5F3FCE}"/>
              </a:ext>
            </a:extLst>
          </p:cNvPr>
          <p:cNvSpPr txBox="1"/>
          <p:nvPr/>
        </p:nvSpPr>
        <p:spPr>
          <a:xfrm>
            <a:off x="4954556" y="4914218"/>
            <a:ext cx="5738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But are these values correct? . . 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A5DA07-9513-E5A6-4A72-6E164A43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98" y="1165366"/>
            <a:ext cx="3624865" cy="515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53B4C9-54B6-01E1-EFE6-5245C18A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2297509"/>
            <a:ext cx="5139612" cy="226298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It is very useful to convert a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long format data 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to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wide format data </a:t>
            </a:r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first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!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697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ata Tidying · Data Science with R">
            <a:extLst>
              <a:ext uri="{FF2B5EF4-FFF2-40B4-BE49-F238E27FC236}">
                <a16:creationId xmlns:a16="http://schemas.microsoft.com/office/drawing/2014/main" id="{873BC770-1FD1-2421-FCE3-923AA2002E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5818"/>
            <a:ext cx="9144000" cy="42767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22B6CA4-9F36-7686-80FB-701BC7E0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258"/>
            <a:ext cx="10515600" cy="1325563"/>
          </a:xfrm>
        </p:spPr>
        <p:txBody>
          <a:bodyPr>
            <a:normAutofit/>
          </a:bodyPr>
          <a:lstStyle/>
          <a:p>
            <a:r>
              <a:rPr lang="" dirty="0"/>
              <a:t>✨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tidyr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: a magic that turn a messy data into a tidy and clean one “</a:t>
            </a:r>
            <a:r>
              <a:rPr lang="en-US" i="1" u="sng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long-wide</a:t>
            </a:r>
            <a:r>
              <a:rPr lang="en-US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format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”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68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4DFDE4-9FCD-60DC-9F4A-860F0E51FE6D}"/>
              </a:ext>
            </a:extLst>
          </p:cNvPr>
          <p:cNvSpPr/>
          <p:nvPr/>
        </p:nvSpPr>
        <p:spPr>
          <a:xfrm>
            <a:off x="939449" y="560920"/>
            <a:ext cx="10471890" cy="18743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8D40E8-6078-031C-DB5A-A1CB451A4190}"/>
              </a:ext>
            </a:extLst>
          </p:cNvPr>
          <p:cNvSpPr txBox="1"/>
          <p:nvPr/>
        </p:nvSpPr>
        <p:spPr>
          <a:xfrm>
            <a:off x="1438942" y="762717"/>
            <a:ext cx="98088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library(tidyr)</a:t>
            </a:r>
          </a:p>
          <a:p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 %&gt;%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n-US" sz="1200" b="1" dirty="0" err="1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pivot_wider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			# convert data long to wide format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names_from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symptom,		# specify value in the column that will be the new column names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values_from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present		# specify the value in the column used to fill newly created col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)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7A952-13FE-C317-B3DF-C38264419569}"/>
              </a:ext>
            </a:extLst>
          </p:cNvPr>
          <p:cNvSpPr txBox="1"/>
          <p:nvPr/>
        </p:nvSpPr>
        <p:spPr>
          <a:xfrm>
            <a:off x="589659" y="268532"/>
            <a:ext cx="699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F82A5E-F9B6-08CE-D363-F36CD53E9B4A}"/>
              </a:ext>
            </a:extLst>
          </p:cNvPr>
          <p:cNvSpPr txBox="1"/>
          <p:nvPr/>
        </p:nvSpPr>
        <p:spPr>
          <a:xfrm>
            <a:off x="939449" y="2779313"/>
            <a:ext cx="4453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This approach is okay if you have a </a:t>
            </a:r>
            <a:r>
              <a:rPr lang="en-US" sz="20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clean</a:t>
            </a:r>
            <a:r>
              <a:rPr lang="en-US" sz="2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long format data like this:</a:t>
            </a:r>
            <a:endParaRPr lang="LID4096" sz="1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31DB94C-FB38-4B98-0518-F2ED527A7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31094"/>
              </p:ext>
            </p:extLst>
          </p:nvPr>
        </p:nvGraphicFramePr>
        <p:xfrm>
          <a:off x="939449" y="3831222"/>
          <a:ext cx="4453644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548">
                  <a:extLst>
                    <a:ext uri="{9D8B030D-6E8A-4147-A177-3AD203B41FA5}">
                      <a16:colId xmlns:a16="http://schemas.microsoft.com/office/drawing/2014/main" val="2062747514"/>
                    </a:ext>
                  </a:extLst>
                </a:gridCol>
                <a:gridCol w="1690803">
                  <a:extLst>
                    <a:ext uri="{9D8B030D-6E8A-4147-A177-3AD203B41FA5}">
                      <a16:colId xmlns:a16="http://schemas.microsoft.com/office/drawing/2014/main" val="2064297912"/>
                    </a:ext>
                  </a:extLst>
                </a:gridCol>
                <a:gridCol w="1278293">
                  <a:extLst>
                    <a:ext uri="{9D8B030D-6E8A-4147-A177-3AD203B41FA5}">
                      <a16:colId xmlns:a16="http://schemas.microsoft.com/office/drawing/2014/main" val="153470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case_id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symptom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Present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4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D001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9479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D001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vomit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75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D002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D002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vomit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59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D003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2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D003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vomit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3951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1F29138-D616-AAF5-046C-E53401B68E30}"/>
              </a:ext>
            </a:extLst>
          </p:cNvPr>
          <p:cNvSpPr txBox="1"/>
          <p:nvPr/>
        </p:nvSpPr>
        <p:spPr>
          <a:xfrm>
            <a:off x="6343345" y="2779313"/>
            <a:ext cx="4453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However it does not work if you have data like this:</a:t>
            </a:r>
            <a:endParaRPr lang="LID4096" sz="1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F02A6CD-6697-350D-818E-321187FB6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273681"/>
              </p:ext>
            </p:extLst>
          </p:nvPr>
        </p:nvGraphicFramePr>
        <p:xfrm>
          <a:off x="6343346" y="3831222"/>
          <a:ext cx="3175351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548">
                  <a:extLst>
                    <a:ext uri="{9D8B030D-6E8A-4147-A177-3AD203B41FA5}">
                      <a16:colId xmlns:a16="http://schemas.microsoft.com/office/drawing/2014/main" val="2062747514"/>
                    </a:ext>
                  </a:extLst>
                </a:gridCol>
                <a:gridCol w="1690803">
                  <a:extLst>
                    <a:ext uri="{9D8B030D-6E8A-4147-A177-3AD203B41FA5}">
                      <a16:colId xmlns:a16="http://schemas.microsoft.com/office/drawing/2014/main" val="206429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case_id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symptom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4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D001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9479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D002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D002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Vomit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59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D003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headache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2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D003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Vomit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39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D003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Diabetes</a:t>
                      </a:r>
                      <a:endParaRPr lang="LID4096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41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34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4B9DAF-612A-87C6-F4DB-2718D7EA01B0}"/>
              </a:ext>
            </a:extLst>
          </p:cNvPr>
          <p:cNvSpPr/>
          <p:nvPr/>
        </p:nvSpPr>
        <p:spPr>
          <a:xfrm>
            <a:off x="939449" y="560920"/>
            <a:ext cx="10471890" cy="21675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5164B-3601-8AEF-2C2B-BC31B0CF8E6A}"/>
              </a:ext>
            </a:extLst>
          </p:cNvPr>
          <p:cNvSpPr txBox="1"/>
          <p:nvPr/>
        </p:nvSpPr>
        <p:spPr>
          <a:xfrm>
            <a:off x="1420103" y="723110"/>
            <a:ext cx="95105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library(tidyr)</a:t>
            </a:r>
          </a:p>
          <a:p>
            <a:endParaRPr lang="en-US" sz="12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 %&gt;%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n-US" sz="1200" b="1" dirty="0" err="1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pivot_wider</a:t>
            </a:r>
            <a:r>
              <a:rPr lang="en-US" sz="1200" b="1" dirty="0">
                <a:highlight>
                  <a:srgbClr val="FFFF0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			# convert data long to wide format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names_from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comorbidity,	# Makes comorbidities into column names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values_from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comorbidity,	# Uses comorbidity values as the data source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values_fn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~1,		# Assigns 1 when present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2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values_fill</a:t>
            </a:r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0		# Fills missing combinations with 0</a:t>
            </a:r>
          </a:p>
          <a:p>
            <a:r>
              <a:rPr lang="en-US" sz="12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) 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4D10C-750F-E80D-D941-0BA2F9E9CCCE}"/>
              </a:ext>
            </a:extLst>
          </p:cNvPr>
          <p:cNvSpPr txBox="1"/>
          <p:nvPr/>
        </p:nvSpPr>
        <p:spPr>
          <a:xfrm>
            <a:off x="589659" y="268532"/>
            <a:ext cx="699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✨</a:t>
            </a:r>
            <a:endParaRPr lang="LID4096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807A8D-8F69-7C40-7212-5FA8200D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03" y="3195471"/>
            <a:ext cx="9510584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72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C93D-8142-E64B-BE64-033E5C1D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60B617-6634-A456-FAAE-8D79B4790154}"/>
              </a:ext>
            </a:extLst>
          </p:cNvPr>
          <p:cNvSpPr txBox="1">
            <a:spLocks/>
          </p:cNvSpPr>
          <p:nvPr/>
        </p:nvSpPr>
        <p:spPr>
          <a:xfrm>
            <a:off x="349045" y="373096"/>
            <a:ext cx="10515600" cy="109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🌸 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Assignment week 5 – Categorical EDA, data transformation – </a:t>
            </a:r>
            <a:r>
              <a:rPr lang="en-US" sz="36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dplyr</a:t>
            </a:r>
            <a:r>
              <a:rPr lang="en-US" sz="36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, joining, pivot data</a:t>
            </a:r>
            <a:endParaRPr lang="LID4096" sz="36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89C4F-D0F7-5AA2-3C37-37FC268EAA68}"/>
              </a:ext>
            </a:extLst>
          </p:cNvPr>
          <p:cNvSpPr txBox="1"/>
          <p:nvPr/>
        </p:nvSpPr>
        <p:spPr>
          <a:xfrm>
            <a:off x="683342" y="1708479"/>
            <a:ext cx="98470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Categorical EDA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Please find out how many people in each province have positive and negative test result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What are the proportion ? (both report in row and column percentage)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Create a bar plot to show the 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1F4F0-AB3D-B010-2F5F-F5BC411571FA}"/>
              </a:ext>
            </a:extLst>
          </p:cNvPr>
          <p:cNvSpPr txBox="1"/>
          <p:nvPr/>
        </p:nvSpPr>
        <p:spPr>
          <a:xfrm>
            <a:off x="683342" y="3145354"/>
            <a:ext cx="98470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Data transformation – using </a:t>
            </a:r>
            <a:r>
              <a:rPr lang="en-US" b="1" dirty="0" err="1">
                <a:latin typeface="Speak Pro" panose="020B0504020101020102" pitchFamily="34" charset="0"/>
              </a:rPr>
              <a:t>dplyr</a:t>
            </a:r>
            <a:r>
              <a:rPr lang="en-US" b="1" dirty="0">
                <a:latin typeface="Speak Pro" panose="020B0504020101020102" pitchFamily="34" charset="0"/>
              </a:rPr>
              <a:t>!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I want to see in the transformed data the columns (</a:t>
            </a:r>
            <a:r>
              <a:rPr lang="en-US" b="1" dirty="0" err="1">
                <a:latin typeface="Speak Pro" panose="020B0504020101020102" pitchFamily="34" charset="0"/>
              </a:rPr>
              <a:t>caseid</a:t>
            </a:r>
            <a:r>
              <a:rPr lang="en-US" b="1" dirty="0">
                <a:latin typeface="Speak Pro" panose="020B0504020101020102" pitchFamily="34" charset="0"/>
              </a:rPr>
              <a:t>, sex, age, age group, occupation, pregnant, dengue positivity (test result))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I want you to filter data to get only pregnant woman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Then create new column called “agemorethan20”, which then the create a condition if the age more than 20 assign “Yes”,  otherwise “No”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Then relocate this column to the third position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I want to know what is the average age of this transformed data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F1358-9968-8346-41F5-E3F70FED6CDC}"/>
              </a:ext>
            </a:extLst>
          </p:cNvPr>
          <p:cNvSpPr txBox="1"/>
          <p:nvPr/>
        </p:nvSpPr>
        <p:spPr>
          <a:xfrm>
            <a:off x="683342" y="5690224"/>
            <a:ext cx="9847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peak Pro" panose="020B0504020101020102" pitchFamily="34" charset="0"/>
              </a:rPr>
              <a:t>Join our data with “df_2_dengue_cases_ver2.csv”, then rename the column “comorbidity” to “disease”,</a:t>
            </a:r>
          </a:p>
          <a:p>
            <a:r>
              <a:rPr lang="en-US" b="1" dirty="0">
                <a:latin typeface="Speak Pro" panose="020B0504020101020102" pitchFamily="34" charset="0"/>
              </a:rPr>
              <a:t>Please change </a:t>
            </a:r>
            <a:r>
              <a:rPr lang="en-US" b="1" dirty="0" err="1">
                <a:latin typeface="Speak Pro" panose="020B0504020101020102" pitchFamily="34" charset="0"/>
              </a:rPr>
              <a:t>longformat</a:t>
            </a:r>
            <a:r>
              <a:rPr lang="en-US" b="1" dirty="0">
                <a:latin typeface="Speak Pro" panose="020B0504020101020102" pitchFamily="34" charset="0"/>
              </a:rPr>
              <a:t> data to wide format data and assign 1 if a disease present, otherwise 0</a:t>
            </a:r>
          </a:p>
        </p:txBody>
      </p:sp>
    </p:spTree>
    <p:extLst>
      <p:ext uri="{BB962C8B-B14F-4D97-AF65-F5344CB8AC3E}">
        <p14:creationId xmlns:p14="http://schemas.microsoft.com/office/powerpoint/2010/main" val="28862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F56EAE-91EE-0B36-2318-D2AA6698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258"/>
            <a:ext cx="10515600" cy="1325563"/>
          </a:xfrm>
        </p:spPr>
        <p:txBody>
          <a:bodyPr/>
          <a:lstStyle/>
          <a:p>
            <a:r>
              <a:rPr lang="" dirty="0"/>
              <a:t>🎨</a:t>
            </a:r>
            <a:r>
              <a:rPr lang="lo-LA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ggplot2</a:t>
            </a:r>
            <a:r>
              <a:rPr lang="en-US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: data visualization</a:t>
            </a:r>
            <a:endParaRPr lang="LID4096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5" name="Picture 4" descr="incidence_pairwise_comparison.jpg">
            <a:extLst>
              <a:ext uri="{FF2B5EF4-FFF2-40B4-BE49-F238E27FC236}">
                <a16:creationId xmlns:a16="http://schemas.microsoft.com/office/drawing/2014/main" id="{0FFF2B4B-9935-D196-6FCC-29F963960B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" y="2395728"/>
            <a:ext cx="4463373" cy="3347530"/>
          </a:xfrm>
          <a:prstGeom prst="rect">
            <a:avLst/>
          </a:prstGeom>
        </p:spPr>
      </p:pic>
      <p:pic>
        <p:nvPicPr>
          <p:cNvPr id="6" name="Picture 5" descr="incidence_trend_1990_2023.jpg">
            <a:extLst>
              <a:ext uri="{FF2B5EF4-FFF2-40B4-BE49-F238E27FC236}">
                <a16:creationId xmlns:a16="http://schemas.microsoft.com/office/drawing/2014/main" id="{7A139E27-1B29-7A70-5C1C-23F73E604C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244" y="2395728"/>
            <a:ext cx="5686044" cy="341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44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 Chooser – Data Visualization in Tableau and Excel">
            <a:extLst>
              <a:ext uri="{FF2B5EF4-FFF2-40B4-BE49-F238E27FC236}">
                <a16:creationId xmlns:a16="http://schemas.microsoft.com/office/drawing/2014/main" id="{372C9A66-0884-4F6A-4E83-6C3A43ACEB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748" y="246498"/>
            <a:ext cx="8274504" cy="636500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984D17-0A4E-E61C-D11E-EE6E14252C59}"/>
              </a:ext>
            </a:extLst>
          </p:cNvPr>
          <p:cNvSpPr/>
          <p:nvPr/>
        </p:nvSpPr>
        <p:spPr>
          <a:xfrm>
            <a:off x="4012163" y="139959"/>
            <a:ext cx="2083837" cy="12596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322C3E-01D4-6190-5802-9113DBB7C37D}"/>
              </a:ext>
            </a:extLst>
          </p:cNvPr>
          <p:cNvSpPr/>
          <p:nvPr/>
        </p:nvSpPr>
        <p:spPr>
          <a:xfrm>
            <a:off x="7107496" y="246498"/>
            <a:ext cx="1041919" cy="12596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84A175-574B-F806-AC7D-C173696FC295}"/>
              </a:ext>
            </a:extLst>
          </p:cNvPr>
          <p:cNvSpPr/>
          <p:nvPr/>
        </p:nvSpPr>
        <p:spPr>
          <a:xfrm>
            <a:off x="9191333" y="246498"/>
            <a:ext cx="1041919" cy="125963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A7A9AE-32F8-5EAB-AA20-B2321A1598C9}"/>
              </a:ext>
            </a:extLst>
          </p:cNvPr>
          <p:cNvSpPr/>
          <p:nvPr/>
        </p:nvSpPr>
        <p:spPr>
          <a:xfrm>
            <a:off x="9191333" y="1891797"/>
            <a:ext cx="1041919" cy="21670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729302-7B1F-CA00-86F2-35AF7FE750F9}"/>
              </a:ext>
            </a:extLst>
          </p:cNvPr>
          <p:cNvSpPr/>
          <p:nvPr/>
        </p:nvSpPr>
        <p:spPr>
          <a:xfrm>
            <a:off x="1958748" y="4889241"/>
            <a:ext cx="2053415" cy="182879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3CDCEC-3344-53C1-3C3F-8886364BBC61}"/>
              </a:ext>
            </a:extLst>
          </p:cNvPr>
          <p:cNvSpPr/>
          <p:nvPr/>
        </p:nvSpPr>
        <p:spPr>
          <a:xfrm>
            <a:off x="1943536" y="2169366"/>
            <a:ext cx="1041919" cy="22626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9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AC09-C536-442D-5EC4-C387B56D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EA9CAB-CE75-B74A-0958-7338A2B7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1130709"/>
            <a:ext cx="3753466" cy="3873910"/>
          </a:xfrm>
        </p:spPr>
        <p:txBody>
          <a:bodyPr>
            <a:normAutofit/>
          </a:bodyPr>
          <a:lstStyle/>
          <a:p>
            <a:r>
              <a:rPr lang="" sz="4000" dirty="0"/>
              <a:t>🎨</a:t>
            </a:r>
            <a:r>
              <a:rPr lang="lo-LA" sz="4000" dirty="0">
                <a:latin typeface="Hinsiew " panose="02000503000000000000" pitchFamily="50" charset="0"/>
                <a:cs typeface="Hinsiew " panose="02000503000000000000" pitchFamily="50" charset="0"/>
              </a:rPr>
              <a:t> </a:t>
            </a:r>
            <a:r>
              <a:rPr lang="en-US" sz="40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ggplot2</a:t>
            </a:r>
            <a:r>
              <a:rPr lang="en-US" sz="40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: let’s create an art on a canvas !</a:t>
            </a:r>
            <a:endParaRPr lang="LID4096" sz="4000" b="1" dirty="0"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1C9715-F09B-A8A9-C11B-741DBFA1F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71" y="418681"/>
            <a:ext cx="6159911" cy="3097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05B556-775F-924A-CCB4-E1B7552C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845" y="4042728"/>
            <a:ext cx="6244005" cy="21761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E38776B-25DF-AD30-8494-BB303644ACA7}"/>
              </a:ext>
            </a:extLst>
          </p:cNvPr>
          <p:cNvSpPr txBox="1"/>
          <p:nvPr/>
        </p:nvSpPr>
        <p:spPr>
          <a:xfrm>
            <a:off x="661219" y="4346760"/>
            <a:ext cx="2976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https://ggplot2.tidyverse.org/articles/ggplot2.html#coordinates</a:t>
            </a:r>
          </a:p>
        </p:txBody>
      </p:sp>
    </p:spTree>
    <p:extLst>
      <p:ext uri="{BB962C8B-B14F-4D97-AF65-F5344CB8AC3E}">
        <p14:creationId xmlns:p14="http://schemas.microsoft.com/office/powerpoint/2010/main" val="341930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Visualising Data with ggplot2: Water Quality Data">
            <a:extLst>
              <a:ext uri="{FF2B5EF4-FFF2-40B4-BE49-F238E27FC236}">
                <a16:creationId xmlns:a16="http://schemas.microsoft.com/office/drawing/2014/main" id="{C6AE8B96-C806-31B3-5718-D5B3056EE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441" y="1401967"/>
            <a:ext cx="6687117" cy="4054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8DF1C-7B7C-5399-832D-55DB0BE126BB}"/>
              </a:ext>
            </a:extLst>
          </p:cNvPr>
          <p:cNvSpPr txBox="1"/>
          <p:nvPr/>
        </p:nvSpPr>
        <p:spPr>
          <a:xfrm>
            <a:off x="923395" y="484392"/>
            <a:ext cx="8997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😰 The real one is even more complex ! 😭</a:t>
            </a:r>
            <a:endParaRPr lang="LID4096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F5FFC-D694-E4C0-2316-57CF42FFE27E}"/>
              </a:ext>
            </a:extLst>
          </p:cNvPr>
          <p:cNvSpPr txBox="1"/>
          <p:nvPr/>
        </p:nvSpPr>
        <p:spPr>
          <a:xfrm>
            <a:off x="923393" y="5788832"/>
            <a:ext cx="10855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🥳 But ! It will be okay because we have our best friend, AI 🤖 </a:t>
            </a:r>
            <a:endParaRPr lang="LID4096" sz="1200" b="1" dirty="0"/>
          </a:p>
        </p:txBody>
      </p:sp>
    </p:spTree>
    <p:extLst>
      <p:ext uri="{BB962C8B-B14F-4D97-AF65-F5344CB8AC3E}">
        <p14:creationId xmlns:p14="http://schemas.microsoft.com/office/powerpoint/2010/main" val="200318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4A5160-B630-388B-C6AE-59AB15CA8101}"/>
              </a:ext>
            </a:extLst>
          </p:cNvPr>
          <p:cNvSpPr/>
          <p:nvPr/>
        </p:nvSpPr>
        <p:spPr>
          <a:xfrm>
            <a:off x="6096000" y="1393488"/>
            <a:ext cx="5189316" cy="2824222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14A72-18CF-6FF7-48EB-1FE6835D4A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2" y="1393488"/>
            <a:ext cx="5006352" cy="52908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8D67A8-392F-653A-71F6-BA99ABDFD285}"/>
              </a:ext>
            </a:extLst>
          </p:cNvPr>
          <p:cNvSpPr txBox="1"/>
          <p:nvPr/>
        </p:nvSpPr>
        <p:spPr>
          <a:xfrm>
            <a:off x="6571377" y="1735617"/>
            <a:ext cx="438984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test_result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fill = sex))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solidFill>
                  <a:schemeClr val="accent4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geom_bar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(position = "dodge", color = "black") +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theme_minimal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+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labs(  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title = “...",  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x = “...",  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y = “...",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subtitle = “...",  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caption = “...") +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scale_fill_brewer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(type = "qual", palette = 1) +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theme(     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legend.position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"top")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A5A485-3BCC-E3B2-380C-0EBEE6D6AA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67925"/>
            <a:ext cx="114424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8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geom_bar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800" b="1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1 categorical variable 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– </a:t>
            </a:r>
            <a:r>
              <a:rPr lang="en-US" sz="28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2 bar chart comparison</a:t>
            </a:r>
            <a:endParaRPr lang="LID4096" sz="28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E5E0CD-2837-2BC6-33FC-94A797E216F8}"/>
              </a:ext>
            </a:extLst>
          </p:cNvPr>
          <p:cNvSpPr txBox="1"/>
          <p:nvPr/>
        </p:nvSpPr>
        <p:spPr>
          <a:xfrm>
            <a:off x="6097930" y="4559839"/>
            <a:ext cx="57193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geom_bar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r>
              <a:rPr lang="en-US" sz="1800" b="1" dirty="0">
                <a:latin typeface="Speak Pro" panose="020B0504020101020102" pitchFamily="34" charset="0"/>
              </a:rPr>
              <a:t>– to create a </a:t>
            </a:r>
            <a:r>
              <a:rPr lang="en-US" b="1" dirty="0" err="1">
                <a:latin typeface="Speak Pro" panose="020B0504020101020102" pitchFamily="34" charset="0"/>
              </a:rPr>
              <a:t>barplot</a:t>
            </a:r>
            <a:endParaRPr lang="en-US" b="1" dirty="0">
              <a:latin typeface="Speak Pro" panose="020B0504020101020102" pitchFamily="34" charset="0"/>
            </a:endParaRP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- default with fill = show the stacked bar filled with selected variable, if add position = “dodge”, display next to each other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64438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FC9025-B19A-56A4-3EC6-48FA585A0DDB}"/>
              </a:ext>
            </a:extLst>
          </p:cNvPr>
          <p:cNvSpPr txBox="1"/>
          <p:nvPr/>
        </p:nvSpPr>
        <p:spPr>
          <a:xfrm>
            <a:off x="6676280" y="2317279"/>
            <a:ext cx="478227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b="1" dirty="0">
                <a:latin typeface="Speak Pro" panose="020B0504020101020102" pitchFamily="34" charset="0"/>
              </a:rPr>
              <a:t>Same code but change the </a:t>
            </a:r>
            <a:r>
              <a:rPr lang="en-US" sz="1800" b="1" dirty="0" err="1">
                <a:latin typeface="Speak Pro" panose="020B0504020101020102" pitchFamily="34" charset="0"/>
              </a:rPr>
              <a:t>aes</a:t>
            </a:r>
            <a:r>
              <a:rPr lang="en-US" sz="1800" b="1" dirty="0">
                <a:latin typeface="Speak Pro" panose="020B0504020101020102" pitchFamily="34" charset="0"/>
              </a:rPr>
              <a:t>() with different variables</a:t>
            </a:r>
          </a:p>
          <a:p>
            <a:endParaRPr lang="en-US" sz="1800" b="1" dirty="0">
              <a:latin typeface="Speak Pro" panose="020B0504020101020102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Remove argument ``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position = “dodge</a:t>
            </a:r>
            <a:r>
              <a:rPr lang="en-US" b="1" dirty="0">
                <a:latin typeface="Speak Pro" panose="020B0504020101020102" pitchFamily="34" charset="0"/>
              </a:rPr>
              <a:t>”`` from </a:t>
            </a:r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geom_bar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</a:t>
            </a:r>
            <a:endParaRPr lang="en-US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Tx/>
              <a:buChar char="-"/>
            </a:pPr>
            <a:endParaRPr lang="en-US" sz="1800" b="1" dirty="0">
              <a:latin typeface="Speak Pro" panose="020B0504020101020102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800" b="1" dirty="0">
                <a:latin typeface="Speak Pro" panose="020B0504020101020102" pitchFamily="34" charset="0"/>
              </a:rPr>
              <a:t>Remove argument ``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 = “qual</a:t>
            </a:r>
            <a:r>
              <a:rPr lang="en-US" sz="1800" b="1" dirty="0">
                <a:latin typeface="Speak Pro" panose="020B0504020101020102" pitchFamily="34" charset="0"/>
              </a:rPr>
              <a:t>”`` from 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scale_*_brewer ( )</a:t>
            </a:r>
          </a:p>
          <a:p>
            <a:pPr marL="285750" indent="-285750">
              <a:buFontTx/>
              <a:buChar char="-"/>
            </a:pPr>
            <a:endParaRPr lang="en-US" sz="1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coord_flip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</a:t>
            </a:r>
            <a:r>
              <a:rPr lang="en-US" b="1" dirty="0">
                <a:latin typeface="Speak Pro" panose="020B0504020101020102" pitchFamily="34" charset="0"/>
                <a:ea typeface="JetBrains Mono" panose="02000009000000000000" pitchFamily="49" charset="0"/>
                <a:cs typeface="JetBrains Mono" panose="02000009000000000000" pitchFamily="49" charset="0"/>
              </a:rPr>
              <a:t>– will change from vertical display to horizontal</a:t>
            </a:r>
            <a:endParaRPr lang="en-US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F098D0-DDDF-90E1-1254-A7356EFF1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4430" y="415165"/>
            <a:ext cx="5514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32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Dataviz</a:t>
            </a:r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– </a:t>
            </a:r>
            <a:r>
              <a:rPr lang="en-US" sz="3200" b="1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1 categorical variable </a:t>
            </a:r>
            <a:r>
              <a:rPr lang="en-US" sz="32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– </a:t>
            </a:r>
            <a:r>
              <a:rPr lang="en-US" sz="32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stacked bar plot</a:t>
            </a:r>
            <a:endParaRPr lang="LID4096" sz="32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984F2-E937-49AE-CA17-810F88A7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54" y="634702"/>
            <a:ext cx="6057376" cy="58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873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A1719-C55A-D3D5-26E4-A2A44D86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99F58B-03CD-2C95-AD24-49FDA5295449}"/>
              </a:ext>
            </a:extLst>
          </p:cNvPr>
          <p:cNvSpPr/>
          <p:nvPr/>
        </p:nvSpPr>
        <p:spPr>
          <a:xfrm>
            <a:off x="7650866" y="1393488"/>
            <a:ext cx="4039564" cy="1325563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37DEC-60B4-5960-0D7D-A4B33FCE4400}"/>
              </a:ext>
            </a:extLst>
          </p:cNvPr>
          <p:cNvSpPr txBox="1"/>
          <p:nvPr/>
        </p:nvSpPr>
        <p:spPr>
          <a:xfrm>
            <a:off x="7905508" y="1561996"/>
            <a:ext cx="3693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= ..., y =...))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solidFill>
                  <a:schemeClr val="accent4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geom_point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+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geom_smooth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(method = “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lm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”, se = TRUE)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2D53AE-0033-409C-1EF0-77165DD86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67925"/>
            <a:ext cx="114424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8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geom_point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800" b="1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2 continuous variables </a:t>
            </a:r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– </a:t>
            </a:r>
            <a:r>
              <a:rPr lang="en-US" sz="28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scatter plot</a:t>
            </a:r>
            <a:endParaRPr lang="LID4096" sz="28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F22DF-2AAF-82D8-C61B-2FF3B67F896A}"/>
              </a:ext>
            </a:extLst>
          </p:cNvPr>
          <p:cNvSpPr txBox="1"/>
          <p:nvPr/>
        </p:nvSpPr>
        <p:spPr>
          <a:xfrm>
            <a:off x="7650866" y="3261787"/>
            <a:ext cx="38562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geom_point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r>
              <a:rPr lang="en-US" sz="1800" b="1" dirty="0">
                <a:latin typeface="Speak Pro" panose="020B0504020101020102" pitchFamily="34" charset="0"/>
              </a:rPr>
              <a:t>– to create a </a:t>
            </a:r>
            <a:r>
              <a:rPr lang="en-US" b="1" dirty="0">
                <a:latin typeface="Speak Pro" panose="020B0504020101020102" pitchFamily="34" charset="0"/>
              </a:rPr>
              <a:t>scatter plot of 2 continuous variables</a:t>
            </a:r>
          </a:p>
          <a:p>
            <a:endParaRPr lang="en-US" b="1" dirty="0">
              <a:latin typeface="Speak Pro" panose="020B0504020101020102" pitchFamily="34" charset="0"/>
            </a:endParaRPr>
          </a:p>
          <a:p>
            <a:r>
              <a:rPr lang="en-US" b="1" dirty="0">
                <a:latin typeface="Speak Pro" panose="020B0504020101020102" pitchFamily="34" charset="0"/>
              </a:rPr>
              <a:t>-</a:t>
            </a:r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geom_smooth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r>
              <a:rPr lang="en-US" b="1" dirty="0">
                <a:latin typeface="Speak Pro" panose="020B0504020101020102" pitchFamily="34" charset="0"/>
              </a:rPr>
              <a:t>– add trend line to our plot, with 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method = “</a:t>
            </a:r>
            <a:r>
              <a:rPr lang="en-US" b="1" dirty="0" err="1">
                <a:latin typeface="Speak Pro" panose="020B0504020101020102" pitchFamily="34" charset="0"/>
              </a:rPr>
              <a:t>lm</a:t>
            </a:r>
            <a:r>
              <a:rPr lang="en-US" b="1" dirty="0">
                <a:latin typeface="Speak Pro" panose="020B0504020101020102" pitchFamily="34" charset="0"/>
              </a:rPr>
              <a:t>” – add linear line 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latin typeface="Speak Pro" panose="020B0504020101020102" pitchFamily="34" charset="0"/>
              </a:rPr>
              <a:t>se = TRUE – show 95% CI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C6CCD-9AF8-B29B-6B4B-12200673B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5" y="1393488"/>
            <a:ext cx="6542092" cy="41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41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1EBC1E-DAFE-B625-7CDF-ADCFBF8E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" y="1472266"/>
            <a:ext cx="7458728" cy="45140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2F3FB2-EA4A-9A30-486C-DC3C0FAA3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37486"/>
            <a:ext cx="114424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4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geom_point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400" b="1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2 continuous variables 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– </a:t>
            </a:r>
            <a:r>
              <a:rPr lang="en-US" sz="24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scatter plot with fill and shape</a:t>
            </a:r>
            <a:endParaRPr lang="LID4096" sz="24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4BDEDA-2707-1DF5-1438-738BAA5FDFB4}"/>
              </a:ext>
            </a:extLst>
          </p:cNvPr>
          <p:cNvSpPr/>
          <p:nvPr/>
        </p:nvSpPr>
        <p:spPr>
          <a:xfrm>
            <a:off x="7970906" y="1633518"/>
            <a:ext cx="4039564" cy="1886922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CC9B3-822B-4BB7-1031-692C54A4D3E7}"/>
              </a:ext>
            </a:extLst>
          </p:cNvPr>
          <p:cNvSpPr txBox="1"/>
          <p:nvPr/>
        </p:nvSpPr>
        <p:spPr>
          <a:xfrm>
            <a:off x="8225548" y="1802026"/>
            <a:ext cx="36932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= ...,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y =...,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lang="en-US" sz="11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lang="en-US" sz="11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size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...))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solidFill>
                  <a:schemeClr val="accent4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geom_point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+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solidFill>
                  <a:schemeClr val="accent4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geom_smooth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(method = “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lm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”, se = TRUE,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(group = 1)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A99A5-762A-BCA6-F140-6333DAECE0A5}"/>
              </a:ext>
            </a:extLst>
          </p:cNvPr>
          <p:cNvSpPr txBox="1"/>
          <p:nvPr/>
        </p:nvSpPr>
        <p:spPr>
          <a:xfrm>
            <a:off x="7942071" y="4318754"/>
            <a:ext cx="38751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(group = 1) </a:t>
            </a:r>
            <a:r>
              <a:rPr lang="en-US" sz="1800" b="1" dirty="0">
                <a:latin typeface="Speak Pro" panose="020B0504020101020102" pitchFamily="34" charset="0"/>
              </a:rPr>
              <a:t>in the </a:t>
            </a:r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geom_smooth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r>
              <a:rPr lang="en-US" sz="1800" b="1" dirty="0">
                <a:latin typeface="Speak Pro" panose="020B0504020101020102" pitchFamily="34" charset="0"/>
              </a:rPr>
              <a:t>will tell the program to create only overall linear line, not separately for each group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0870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7BC6EE-152C-88F1-9D6B-68D7E9B19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049"/>
            <a:ext cx="8015034" cy="4530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646E00C-FA8E-5FF4-4558-44FE4EC47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37486"/>
            <a:ext cx="114424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4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geom_point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400" b="1" i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2 continuous variables 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– </a:t>
            </a:r>
            <a:r>
              <a:rPr lang="en-US" sz="24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unlock full potential of scatterplot</a:t>
            </a:r>
            <a:endParaRPr lang="LID4096" sz="24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775AD0-DE08-E201-C1E1-6F838CB361D1}"/>
              </a:ext>
            </a:extLst>
          </p:cNvPr>
          <p:cNvSpPr/>
          <p:nvPr/>
        </p:nvSpPr>
        <p:spPr>
          <a:xfrm>
            <a:off x="8115300" y="1633518"/>
            <a:ext cx="3895170" cy="2024082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4EF77-0212-CC98-CECA-242D74FD8A51}"/>
              </a:ext>
            </a:extLst>
          </p:cNvPr>
          <p:cNvSpPr txBox="1"/>
          <p:nvPr/>
        </p:nvSpPr>
        <p:spPr>
          <a:xfrm>
            <a:off x="8225548" y="1802026"/>
            <a:ext cx="369328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= ...,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y =...,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col = 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lang="en-US" sz="11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shape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...))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geom_point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+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geom_smooth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(method = “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lm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”, se = TRUE,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(group = 1) +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geom_rug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E759B-B435-EDD2-5BAE-874824F03B2B}"/>
              </a:ext>
            </a:extLst>
          </p:cNvPr>
          <p:cNvSpPr txBox="1"/>
          <p:nvPr/>
        </p:nvSpPr>
        <p:spPr>
          <a:xfrm>
            <a:off x="8115300" y="4097085"/>
            <a:ext cx="3895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geom_rug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 ) </a:t>
            </a:r>
            <a:r>
              <a:rPr lang="en-US" sz="1800" b="1" dirty="0">
                <a:latin typeface="Speak Pro" panose="020B0504020101020102" pitchFamily="34" charset="0"/>
              </a:rPr>
              <a:t>will show the different color of data on the x and y axis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758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349F6B-A002-5C51-3E56-6B3710419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37486"/>
            <a:ext cx="114424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4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geom_line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4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continuous time trend</a:t>
            </a:r>
            <a:endParaRPr lang="LID4096" sz="24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8F9BF-7A4E-58CD-E8BD-5F2A66A38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1" y="1655326"/>
            <a:ext cx="6755444" cy="432017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1B6F20-E79F-4428-A075-E867746FBC87}"/>
              </a:ext>
            </a:extLst>
          </p:cNvPr>
          <p:cNvSpPr/>
          <p:nvPr/>
        </p:nvSpPr>
        <p:spPr>
          <a:xfrm>
            <a:off x="7243430" y="932820"/>
            <a:ext cx="3895170" cy="1454579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DAF56-297C-3EB6-21B5-258B62444271}"/>
              </a:ext>
            </a:extLst>
          </p:cNvPr>
          <p:cNvSpPr txBox="1"/>
          <p:nvPr/>
        </p:nvSpPr>
        <p:spPr>
          <a:xfrm>
            <a:off x="7353678" y="1101328"/>
            <a:ext cx="3693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= ...,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y =...,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col = 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lang="en-US" sz="11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...))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b="1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geom_line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A2D3A-D73F-9471-E5B2-575F2D06EAC4}"/>
              </a:ext>
            </a:extLst>
          </p:cNvPr>
          <p:cNvSpPr txBox="1"/>
          <p:nvPr/>
        </p:nvSpPr>
        <p:spPr>
          <a:xfrm>
            <a:off x="7353678" y="2792992"/>
            <a:ext cx="38951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``group =``</a:t>
            </a:r>
            <a:r>
              <a:rPr lang="en-US" sz="1800" b="1" dirty="0">
                <a:latin typeface="Speak Pro" panose="020B0504020101020102" pitchFamily="34" charset="0"/>
              </a:rPr>
              <a:t> tells ggplot which observations belong together when drawing a line. If you don't tell ggplot how to group them, it may treat the observations as one group and try to connect all the points.</a:t>
            </a:r>
          </a:p>
          <a:p>
            <a:endParaRPr lang="LID4096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2DE7A0-2C99-C1D7-16A4-05FC7D078584}"/>
              </a:ext>
            </a:extLst>
          </p:cNvPr>
          <p:cNvSpPr txBox="1"/>
          <p:nvPr/>
        </p:nvSpPr>
        <p:spPr>
          <a:xfrm>
            <a:off x="7353678" y="5064722"/>
            <a:ext cx="3895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``</a:t>
            </a:r>
            <a:r>
              <a:rPr lang="en-US" sz="16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geom_line</a:t>
            </a:r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)``</a:t>
            </a:r>
            <a:r>
              <a:rPr lang="en-US" sz="1800" b="1" dirty="0">
                <a:latin typeface="Speak Pro" panose="020B0504020101020102" pitchFamily="34" charset="0"/>
              </a:rPr>
              <a:t> connect the value to each other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852334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E8BF6-A15D-4FDC-D2D9-46076722AE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7" y="1535288"/>
            <a:ext cx="7276316" cy="409292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A6D51C3-C51C-4FBF-8F17-5C92D54D5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762" y="432598"/>
            <a:ext cx="11442476" cy="93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🧟 </a:t>
            </a:r>
            <a:r>
              <a:rPr lang="en-US" sz="2400" b="1" dirty="0" err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geom_boxplot</a:t>
            </a:r>
            <a:r>
              <a:rPr lang="en-US" sz="24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 () – </a:t>
            </a:r>
            <a:r>
              <a:rPr lang="en-US" sz="2400" b="1" dirty="0">
                <a:solidFill>
                  <a:srgbClr val="FF0000"/>
                </a:solidFill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continuous x categorical to show distribution of data across groups</a:t>
            </a:r>
            <a:endParaRPr lang="LID4096" sz="2400" b="1" dirty="0">
              <a:solidFill>
                <a:srgbClr val="FF0000"/>
              </a:solidFill>
              <a:latin typeface="Hinsiew " panose="02000503000000000000" pitchFamily="50" charset="0"/>
              <a:cs typeface="Hinsiew " panose="02000503000000000000" pitchFamily="50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78AECC-1C7C-5246-67B7-3FE1A1C5DFC1}"/>
              </a:ext>
            </a:extLst>
          </p:cNvPr>
          <p:cNvSpPr/>
          <p:nvPr/>
        </p:nvSpPr>
        <p:spPr>
          <a:xfrm>
            <a:off x="7537733" y="1535288"/>
            <a:ext cx="3895170" cy="1454579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55500-5E93-DD20-F38B-676747D9732C}"/>
              </a:ext>
            </a:extLst>
          </p:cNvPr>
          <p:cNvSpPr txBox="1"/>
          <p:nvPr/>
        </p:nvSpPr>
        <p:spPr>
          <a:xfrm>
            <a:off x="7647981" y="1703796"/>
            <a:ext cx="369328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ggplot(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df_viz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lang="en-US" sz="11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aes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= ...,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y =...,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fill = ...) + </a:t>
            </a:r>
          </a:p>
          <a:p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100" b="1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geom_boxplot</a:t>
            </a:r>
            <a:r>
              <a:rPr lang="en-US" sz="1100" b="1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</a:t>
            </a:r>
            <a:endParaRPr lang="LID4096" sz="11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97DCE-4A93-AF92-E00D-3177CF404B1B}"/>
              </a:ext>
            </a:extLst>
          </p:cNvPr>
          <p:cNvSpPr txBox="1"/>
          <p:nvPr/>
        </p:nvSpPr>
        <p:spPr>
          <a:xfrm>
            <a:off x="7647981" y="3708877"/>
            <a:ext cx="3904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``fill =``</a:t>
            </a:r>
            <a:r>
              <a:rPr lang="en-US" sz="1800" b="1" dirty="0">
                <a:latin typeface="Speak Pro" panose="020B0504020101020102" pitchFamily="34" charset="0"/>
              </a:rPr>
              <a:t> Use the categorical variable to determine the inside fill color of each box.</a:t>
            </a:r>
          </a:p>
          <a:p>
            <a:r>
              <a:rPr lang="en-US" sz="1800" b="1" dirty="0">
                <a:latin typeface="Speak Pro" panose="020B0504020101020102" pitchFamily="34" charset="0"/>
              </a:rPr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06062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DB0FCC8-88A1-0F5D-9C1C-54CE188D801C}"/>
              </a:ext>
            </a:extLst>
          </p:cNvPr>
          <p:cNvSpPr txBox="1"/>
          <p:nvPr/>
        </p:nvSpPr>
        <p:spPr>
          <a:xfrm>
            <a:off x="863395" y="1692920"/>
            <a:ext cx="60979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To summarize - to create a graph using ggplot, it composes of 3 main components: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4BF75-BB7C-BB5F-268D-05EC580B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44" y="3429000"/>
            <a:ext cx="6244005" cy="2176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EE433F-DFCF-52FB-4E65-3AE12C0BC88F}"/>
              </a:ext>
            </a:extLst>
          </p:cNvPr>
          <p:cNvSpPr txBox="1"/>
          <p:nvPr/>
        </p:nvSpPr>
        <p:spPr>
          <a:xfrm>
            <a:off x="8012430" y="2736502"/>
            <a:ext cx="3389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To make a beautiful one, just tell AI to help you :)</a:t>
            </a:r>
            <a:endParaRPr lang="LID4096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193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A6CC3-F2B8-E9DD-90F4-E3373DBA77B5}"/>
              </a:ext>
            </a:extLst>
          </p:cNvPr>
          <p:cNvSpPr txBox="1"/>
          <p:nvPr/>
        </p:nvSpPr>
        <p:spPr>
          <a:xfrm>
            <a:off x="3047114" y="1104673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Speak Pro" panose="020B0504020101020102" pitchFamily="34" charset="0"/>
                <a:ea typeface="Sans Serif Collection" panose="020B0502040504020204" pitchFamily="34" charset="0"/>
                <a:cs typeface="Rod" panose="020F0502020204030204" pitchFamily="49" charset="-79"/>
              </a:rPr>
              <a:t>The session has come to the end, Thank you everyone for joining 😊, you are now certified R user !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2EC64-6584-A4A4-E050-D1CF63061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3074117"/>
            <a:ext cx="47625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60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6569</TotalTime>
  <Words>4721</Words>
  <Application>Microsoft Office PowerPoint</Application>
  <PresentationFormat>Widescreen</PresentationFormat>
  <Paragraphs>553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4" baseType="lpstr">
      <vt:lpstr>Amasis MT Pro Black</vt:lpstr>
      <vt:lpstr>Aptos</vt:lpstr>
      <vt:lpstr>Aptos Display</vt:lpstr>
      <vt:lpstr>Arial</vt:lpstr>
      <vt:lpstr>CommitMono</vt:lpstr>
      <vt:lpstr>Gill Sans MT</vt:lpstr>
      <vt:lpstr>Hinsiew </vt:lpstr>
      <vt:lpstr>JetBrains Mono</vt:lpstr>
      <vt:lpstr>Noto Sans Lao</vt:lpstr>
      <vt:lpstr>Quire Sans Light</vt:lpstr>
      <vt:lpstr>Skeena</vt:lpstr>
      <vt:lpstr>Speak Pro</vt:lpstr>
      <vt:lpstr>Tw Cen MT</vt:lpstr>
      <vt:lpstr>Office Theme</vt:lpstr>
      <vt:lpstr>PowerPoint Presentation</vt:lpstr>
      <vt:lpstr>R Programming Language</vt:lpstr>
      <vt:lpstr>💢 ໃນການຂຽນໂປແກມທຸກໆພາສາ, ຈະມີ Core Building Block ຫຼັກໆ 5 ຢ່າງ:</vt:lpstr>
      <vt:lpstr>📁 Variables / Objects ແມ່ນຫຍັງ </vt:lpstr>
      <vt:lpstr>🫣 ມາທຳຄວາມຮູ້ຈັກກັບ Data type ແຕ່ລະຊະນິດໃນ R</vt:lpstr>
      <vt:lpstr>🧩 ໂຄງສ້າງຂອງ Data / Data Structure</vt:lpstr>
      <vt:lpstr>What have we learnt so far week 1</vt:lpstr>
      <vt:lpstr>👌ການສ້າງ directory/folder ໃນການວິເຄາະຂໍ້ມູນ​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📆 lubridate:   date data will not be a headache for you anymore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💢 ໃນການຂຽນໂປແກມທຸກໆພາສາ, ຈະມີ Core Building Block ຫຼັກໆ 5 ຢ່າງ:</vt:lpstr>
      <vt:lpstr>🔄 ລຳດັບການເຮັດວຽກໂປແກມ Control Flow</vt:lpstr>
      <vt:lpstr>PowerPoint Presentation</vt:lpstr>
      <vt:lpstr>PowerPoint Presentation</vt:lpstr>
      <vt:lpstr>💯 EDA on continuous variables</vt:lpstr>
      <vt:lpstr>PowerPoint Presentation</vt:lpstr>
      <vt:lpstr>PowerPoint Presentation</vt:lpstr>
      <vt:lpstr>💢 ໃນການຂຽນໂປແກມທຸກໆພາສາ, ຈະມີ Core Building Block ຫຼັກໆ 5 ຢ່າງ:</vt:lpstr>
      <vt:lpstr>⚙️ Avoid repetitive coding using Function</vt:lpstr>
      <vt:lpstr>⚙️ Avoid repetitive coding using Function</vt:lpstr>
      <vt:lpstr>PowerPoint Presentation</vt:lpstr>
      <vt:lpstr>🧟 EDA on categorical variables</vt:lpstr>
      <vt:lpstr>🔥 Dplyr: The most used and powerful library in R for data transformation </vt:lpstr>
      <vt:lpstr>PowerPoint Presentation</vt:lpstr>
      <vt:lpstr>PowerPoint Presentation</vt:lpstr>
      <vt:lpstr>PowerPoint Presentation</vt:lpstr>
      <vt:lpstr>✨Joining two datasets: different types of join</vt:lpstr>
      <vt:lpstr>PowerPoint Presentation</vt:lpstr>
      <vt:lpstr>It is very useful to convert a long format data to wide format data first!</vt:lpstr>
      <vt:lpstr>✨ tidyr: a magic that turn a messy data into a tidy and clean one “long-wide format”</vt:lpstr>
      <vt:lpstr>PowerPoint Presentation</vt:lpstr>
      <vt:lpstr>PowerPoint Presentation</vt:lpstr>
      <vt:lpstr>PowerPoint Presentation</vt:lpstr>
      <vt:lpstr>🎨 ggplot2: data visualization</vt:lpstr>
      <vt:lpstr>PowerPoint Presentation</vt:lpstr>
      <vt:lpstr>🎨 ggplot2: let’s create an art on a canvas !</vt:lpstr>
      <vt:lpstr>PowerPoint Presentation</vt:lpstr>
      <vt:lpstr>🧟 geom_bar () – 1 categorical variable – 2 bar chart comparison</vt:lpstr>
      <vt:lpstr>🧟 Dataviz – 1 categorical variable – stacked bar plot</vt:lpstr>
      <vt:lpstr>🧟 geom_point () – 2 continuous variables – scatter plot</vt:lpstr>
      <vt:lpstr>🧟 geom_point () – 2 continuous variables – scatter plot with fill and shape</vt:lpstr>
      <vt:lpstr>🧟 geom_point () – 2 continuous variables – unlock full potential of scatterplot</vt:lpstr>
      <vt:lpstr>🧟 geom_line () – continuous time trend</vt:lpstr>
      <vt:lpstr>🧟 geom_boxplot () – continuous x categorical to show distribution of data across groups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Symoukda Anousa</dc:creator>
  <cp:lastModifiedBy>Symoukda Anousa</cp:lastModifiedBy>
  <cp:revision>37</cp:revision>
  <dcterms:created xsi:type="dcterms:W3CDTF">2026-08-08T14:40:25Z</dcterms:created>
  <dcterms:modified xsi:type="dcterms:W3CDTF">2026-09-15T08:58:16Z</dcterms:modified>
</cp:coreProperties>
</file>